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DD413D9-27B2-241A-F9A6-39191B2BE8BF}">
          <p14:sldIdLst>
            <p14:sldId id="256"/>
            <p14:sldId id="257"/>
            <p14:sldId id="258"/>
          </p14:sldIdLst>
        </p14:section>
        <p14:section name="Design" id="{494A7060-A963-43FA-C1EF-54896C281E92}">
          <p14:sldIdLst>
            <p14:sldId id="259"/>
            <p14:sldId id="260"/>
            <p14:sldId id="261"/>
          </p14:sldIdLst>
        </p14:section>
        <p14:section name="Build" id="{78C299A8-C83C-6EE5-B9BD-00F41D5AEC2C}">
          <p14:sldIdLst>
            <p14:sldId id="262"/>
            <p14:sldId id="263"/>
          </p14:sldIdLst>
        </p14:section>
        <p14:section name="Evaluation" id="{F2C65744-F723-1C10-3A02-8521944AFB49}">
          <p14:sldIdLst>
            <p14:sldId id="264"/>
            <p14:sldId id="265"/>
          </p14:sldIdLst>
        </p14:section>
        <p14:section name="Reflection" id="{4AF18A44-8150-683C-9EFF-3EE67EC8B276}">
          <p14:sldIdLst>
            <p14:sldId id="266"/>
            <p14:sldId id="267"/>
            <p14:sldId id="268"/>
          </p14:sldIdLst>
        </p14:section>
        <p14:section name="Close" id="{4E965522-A332-8FA3-4222-417A75199E5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1414"/>
                </a:solidFill>
                <a:latin typeface="+mn-lt"/>
              </a:defRPr>
            </a:pPr>
            <a:r>
              <a:rPr lang="en-US" sz="1400" b="0" i="0" u="none" strike="noStrike">
                <a:solidFill>
                  <a:srgbClr val="141414"/>
                </a:solidFill>
                <a:latin typeface="+mn-lt"/>
              </a:rPr>
              <a:t>Reviewer agent: clean vs tampered HiRAG summary</a:t>
            </a:r>
          </a:p>
        </c:rich>
      </c:tx>
      <c:overlay val="0"/>
    </c:title>
    <c:autoTitleDeleted val="0"/>
    <c:plotArea>
      <c:layout/>
      <c:barChart>
        <c:barDir val="col"/>
        <c:grouping val="clustered"/>
        <c:varyColors val="0"/>
        <c:ser>
          <c:idx val="0"/>
          <c:order val="0"/>
          <c:tx>
            <c:strRef>
              <c:f>Sheet1!$B$1</c:f>
              <c:strCache>
                <c:ptCount val="1"/>
                <c:pt idx="0">
                  <c:v>Clean summary</c:v>
                </c:pt>
              </c:strCache>
            </c:strRef>
          </c:tx>
          <c:spPr>
            <a:solidFill>
              <a:srgbClr val="1F3A5F"/>
            </a:solidFill>
            <a:effectLst/>
          </c:spPr>
          <c:invertIfNegative val="0"/>
          <c:dLbls>
            <c:numFmt formatCode="0.00" sourceLinked="0"/>
            <c:spPr>
              <a:noFill/>
              <a:ln>
                <a:noFill/>
              </a:ln>
              <a:effectLst/>
            </c:spPr>
            <c:txPr>
              <a:bodyPr/>
              <a:lstStyle/>
              <a:p>
                <a:pPr>
                  <a:defRPr sz="1100" b="0" i="0" u="none" strike="noStrike">
                    <a:solidFill>
                      <a:srgbClr val="14141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Coverage</c:v>
                </c:pt>
                <c:pt idx="1">
                  <c:v>Grounding</c:v>
                </c:pt>
                <c:pt idx="2">
                  <c:v>Faithfulness</c:v>
                </c:pt>
                <c:pt idx="3">
                  <c:v>Overall score</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0-E0E4-4B63-9154-31C2C8618028}"/>
            </c:ext>
          </c:extLst>
        </c:ser>
        <c:ser>
          <c:idx val="1"/>
          <c:order val="1"/>
          <c:tx>
            <c:strRef>
              <c:f>Sheet1!$C$1</c:f>
              <c:strCache>
                <c:ptCount val="1"/>
                <c:pt idx="0">
                  <c:v>Tampered summary (failed)</c:v>
                </c:pt>
              </c:strCache>
            </c:strRef>
          </c:tx>
          <c:spPr>
            <a:solidFill>
              <a:srgbClr val="E0242C"/>
            </a:solidFill>
            <a:effectLst/>
          </c:spPr>
          <c:invertIfNegative val="0"/>
          <c:dLbls>
            <c:numFmt formatCode="0.00" sourceLinked="0"/>
            <c:spPr>
              <a:noFill/>
              <a:ln>
                <a:noFill/>
              </a:ln>
              <a:effectLst/>
            </c:spPr>
            <c:txPr>
              <a:bodyPr/>
              <a:lstStyle/>
              <a:p>
                <a:pPr>
                  <a:defRPr sz="1100" b="0" i="0" u="none" strike="noStrike">
                    <a:solidFill>
                      <a:srgbClr val="14141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Coverage</c:v>
                </c:pt>
                <c:pt idx="1">
                  <c:v>Grounding</c:v>
                </c:pt>
                <c:pt idx="2">
                  <c:v>Faithfulness</c:v>
                </c:pt>
                <c:pt idx="3">
                  <c:v>Overall score</c:v>
                </c:pt>
              </c:strCache>
            </c:strRef>
          </c:cat>
          <c:val>
            <c:numRef>
              <c:f>Sheet1!$C$2:$C$5</c:f>
              <c:numCache>
                <c:formatCode>General</c:formatCode>
                <c:ptCount val="4"/>
                <c:pt idx="0">
                  <c:v>1</c:v>
                </c:pt>
                <c:pt idx="1">
                  <c:v>0.88200000000000001</c:v>
                </c:pt>
                <c:pt idx="2">
                  <c:v>0.85699999999999998</c:v>
                </c:pt>
                <c:pt idx="3">
                  <c:v>0.92300000000000004</c:v>
                </c:pt>
              </c:numCache>
            </c:numRef>
          </c:val>
          <c:extLst>
            <c:ext xmlns:c16="http://schemas.microsoft.com/office/drawing/2014/chart" uri="{C3380CC4-5D6E-409C-BE32-E72D297353CC}">
              <c16:uniqueId val="{00000001-E0E4-4B63-9154-31C2C861802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majorGridlines>
          <c:spPr>
            <a:ln w="6350" cap="flat">
              <a:solidFill>
                <a:srgbClr val="E3E7EC"/>
              </a:solidFill>
              <a:prstDash val="solid"/>
              <a:round/>
            </a:ln>
          </c:spPr>
        </c:majorGridlines>
        <c:numFmt formatCode="0.0"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4141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733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capstone project is an Autonomous AI Research Agent — an application that reads research papers and produces cited summaries, a critical analysis, a comparison between papers and a downloadable report, and lets you chat with the papers.
The two images on the right are real screenshots from the running application: the top one after all seven agents have finished, the bottom one is a cited summary.
In the next 15 minutes I'll cover the problem, the architecture, how the agents work, how I tested it, the results, and what I learned.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make naive LLM summarization unreliable.
First, length. A paper is longer than most context windows, so the model only sees part of it — and simple similarity search tends to return several near-duplicate chunks from the introduction, missing the results and limitations that matter most.
Second, hallucination. In research, an invented number is worse than no summary at all, because people quote it. So every claim must be traceable.
Third, doing everything in one prompt makes failures impossible to diagnose.
So my goal was an assistant that is complete, cited, self-checking, and that runs even without an API key.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six objectives, and each one maps directly to a part of the code.
Ingestion handles seven file types plus arXiv. Retrieval is section-aware so evidence covers the whole paper. The summarizer must cite every bullet. A Reviewer agent verifies the summary before the user sees it. The system goes beyond summarizing with critique, comparison, a report and chat. And it runs on four back-ends, including a completely offline mode.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LangChain for prompts and chains, and LangGraph for the multi-agent workflow — LangGraph because I need a loop, which a linear chain can't express.
For models, the app supports OpenAI, Llama 3 through Groq, and Gemini, plus my own offline extractive model. Every one is a LangChain chat model, so the agents never change when the provider does.
Embeddings are all-MiniLM-L6-v2 — small, fast on CPU — with an automatic fallback to hashing embeddings if the model can't download. FAISS is the vector store. Streamlit is the UI, and reports export to PDF, Word or Markdown.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architecture. Read it top to bottom.
The user provides papers and settings in the Streamlit sidebar. Ingestion parses each file, chunks it with section metadata, embeds it and stores it in FAISS — cached on disk by a hash of the file contents and settings.
The retriever produces evidence where every chunk carries a citation tag, S1, S2 and so on. That evidence feeds two consumers: the multi-agent workflow on the right, and the conversational Q&amp;A agent in the middle.
Both call language models through one LLM factory with retries, friendly errors and a response cache. Results go to seven tabs and to the PDF, Word and Markdown exporters.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LangGraph workflow, the heart of the project.
The Planner decides the steps. The Research Agent takes one anchor chunk from each canonical section — introduction, method, experiments, results, limitations, conclusion — then runs six aspect queries with MMR. With an LLM it also writes three extra search queries from the abstract.
The Summarizer fills eight fixed headings and must cite every bullet.
Then the Reviewer, highlighted in red. It measures coverage — are all sections filled; grounding — does every bullet cite a real source tag; and faithfulness — does every number appear in the evidence. If the score is under 0.70, or any number is unsupported, it sends the issues back to the Summarizer. The loop is bounded, so it can never run forever.
After review, the Analyst critiques the paper, the comparison runs if there are two or more papers, and the Report Writer produces the brief.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implementation choices worth highlighting.
Chunking keeps section metadata on every chunk, so I can retrieve "the limitations section" directly and cite page and section.
Retrieval uses Maximal Marginal Relevance for diversity, filters per paper, and formats evidence with citation tags. The abstract is always included as S0.
The offline model is my own LangChain chat model. It reads the headings it must fill and selects sentences by TF-IDF centrality, cue words and section match. This means the whole system — including the notebook and tests — runs without any API key.
And resilience: if the embedding model can't download, it falls back automatically; LLM calls retry with back-off but don't retry invalid keys; errors are translated into actionable messages; and both the vector index and LLM responses are cached.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the application, captured from a run on the two sample papers in offline mode.
Left to right: the home page, where the seven agents are shown as "episodes" that fill in as each one finishes; a cited summary with the Reviewer's coverage, grounding and faithfulness bars; the chat, which shows the detected intent and the paper the question was about; and the agent trace with timing for each step.
If time allows I'll run the live demo in the order shown at the bottom — it takes about three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 system at three levels.
Functional: a full end-to-end run on two sample papers with both embedding back-ends, checking every agent step, metadata extraction and all three export formats.
Negative tests, which I think matter most. I tampered with a summary — inserted a fabricated 99.9 percent and a fake citation tag. The weighted score was still 0.923, above threshold, but the hard rule on unsupported numbers failed it, and both problems were reported. I also forced an impossible threshold to prove the reflection loop stops after the configured number of revisions.
Deployment: I launched the Streamlit app, checked its health endpoint, and drove the UI with a headless browser — that's where the screenshots come from. In that environment the embedding model download was blocked, and the app fell back automatically and still completed.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all seven agent steps completed; the Reviewer scored both papers 1.00; five out of five chat questions were routed to the right intent and paper; and the report exported in three formats.
I want to be upfront about the 1.00. In offline mode the summarizer copies source sentences with their tags, so grounding and faithfulness are high almost by construction. The more convincing result is the chart: the clean summary versus the tampered one. Grounding drops to 0.88, faithfulness to 0.86, and the overall score is 0.92 — which would pass on the weighted score alone. The hard rule on unsupported numbers is what correctly fails it.
With a cloud LLM the scores genuinely vary, which is exactly when this check earns its place.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challenges stood out.
Retrieval kept missing whole sections — especially limitations — so I added section metadata and anchor chunks.
PDF extraction is messy: headings glued onto the first sentence, hyphenated line breaks, author names merged into the abstract. Each needed specific handling.
Making offline mode useful was the hardest. Early versions put a results sentence under Limitations because it had a number in it. The fix was to score by section and let headings with the fewest candidates pick first.
Model names keep changing, so the app asks the provider which models a key can use and doesn't waste retries on errors that retrying can't fix.
And Streamlit re-runs the whole script on every click, which caused several subtle bugs until state was managed properly.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priority comes straight from my own testing: the faithfulness check is a substring match, so a fabricated "12" passes because "1,200" contains it. Claim-level verification with units and an entailment model fixes that.
Second, a labelled benchmark on real papers, so design choices are measured, not eyeballed.
Then hybrid search with re-ranking, support for tables, figures and scanned PDFs, parallel agents for speed, and a production deployment with Docker, CI and persistent user libraries.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One: retrieval decides answer quality. When an answer was wrong, it was nearly always because the wrong chunks were retrieved.
Two: where a rule can verify something, use a rule — but test it with deliberately broken input, which is how I found the substring weakness.
Three: design for failure. The fallback I built "just in case" is the reason the app worked in a test environment where the model download was blocked.
Four: agents aren't just a trend — they make a system auditable. The trace shows which step did what and how long it took.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delivers cited, self-checking research summaries that run on any laptop.
It's complete — seven file types and arXiv in; summaries, analysis, comparison, chat and a report out. It's trustworthy — every bullet is cited and a Reviewer rejects unsupported numbers. It's practical — four model back-ends including offline, with caching, fallbacks and clear errors. And it's honest — I've measured and documented where it falls short and what I'd do next.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 on the agent design, the Reviewer metrics, retrieval, the offline model, or anything else. If it helps, I can also run the demo live: streamlit run app.py and press Play with sample papers.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6766560" cy="2011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977640"/>
            <a:ext cx="6583680" cy="1463040"/>
          </a:xfrm>
          <a:prstGeom prst="rect">
            <a:avLst/>
          </a:prstGeom>
          <a:noFill/>
          <a:ln/>
        </p:spPr>
        <p:txBody>
          <a:bodyPr wrap="square" rtlCol="0"/>
          <a:lstStyle>
            <a:lvl1pPr marL="0" indent="0">
              <a:buNone/>
              <a:defRPr lang="en-US" sz="1800" dirty="0">
                <a:solidFill>
                  <a:srgbClr val="BFBFBF"/>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Autonomous AI Research Agent  ·  Final Capstone Project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188720"/>
            <a:ext cx="6400800" cy="365760"/>
          </a:xfrm>
          <a:prstGeom prst="rect">
            <a:avLst/>
          </a:prstGeom>
          <a:noFill/>
          <a:ln/>
        </p:spPr>
        <p:txBody>
          <a:bodyPr wrap="square" lIns="0" tIns="0" rIns="0" bIns="0" rtlCol="0" anchor="ctr"/>
          <a:lstStyle/>
          <a:p>
            <a:pPr marL="0" indent="0">
              <a:buNone/>
            </a:pPr>
            <a:r>
              <a:rPr lang="en-US" sz="1400" b="1" kern="0" spc="300" dirty="0">
                <a:solidFill>
                  <a:schemeClr val="accent1"/>
                </a:solidFill>
              </a:rPr>
              <a:t>FINAL AI CAPSTONE PROJECT</a:t>
            </a:r>
            <a:endParaRPr lang="en-US" sz="1400" dirty="0"/>
          </a:p>
        </p:txBody>
      </p:sp>
      <p:sp>
        <p:nvSpPr>
          <p:cNvPr id="3" name="Text 0"/>
          <p:cNvSpPr>
            <a:spLocks noGrp="1"/>
          </p:cNvSpPr>
          <p:nvPr>
            <p:ph type="title" idx="100" hasCustomPrompt="1"/>
          </p:nvPr>
        </p:nvSpPr>
        <p:spPr>
          <a:xfrm>
            <a:off x="548640" y="1828800"/>
            <a:ext cx="6766560" cy="2011680"/>
          </a:xfrm>
          <a:prstGeom prst="rect">
            <a:avLst/>
          </a:prstGeom>
          <a:noFill/>
          <a:ln/>
        </p:spPr>
        <p:txBody>
          <a:bodyPr wrap="square" lIns="0" tIns="0" rIns="0" bIns="0" rtlCol="0" anchor="b"/>
          <a:lstStyle/>
          <a:p>
            <a:pPr marL="0" indent="0" algn="l">
              <a:buNone/>
            </a:pPr>
            <a:r>
              <a:rPr lang="en-US" sz="4400" b="1" dirty="0">
                <a:solidFill>
                  <a:schemeClr val="bg1"/>
                </a:solidFill>
              </a:rPr>
              <a:t>Autonomous AI Research Agent</a:t>
            </a:r>
            <a:endParaRPr lang="en-US" sz="4400" dirty="0"/>
          </a:p>
        </p:txBody>
      </p:sp>
      <p:sp>
        <p:nvSpPr>
          <p:cNvPr id="4" name="Text 0"/>
          <p:cNvSpPr>
            <a:spLocks noGrp="1"/>
          </p:cNvSpPr>
          <p:nvPr>
            <p:ph type="body" idx="101" hasCustomPrompt="1"/>
          </p:nvPr>
        </p:nvSpPr>
        <p:spPr>
          <a:xfrm>
            <a:off x="548640" y="3977640"/>
            <a:ext cx="6583680" cy="1463040"/>
          </a:xfrm>
          <a:prstGeom prst="rect">
            <a:avLst/>
          </a:prstGeom>
          <a:noFill/>
          <a:ln/>
        </p:spPr>
        <p:txBody>
          <a:bodyPr wrap="square" lIns="0" tIns="0" rIns="0" bIns="0" rtlCol="0" anchor="t"/>
          <a:lstStyle/>
          <a:p>
            <a:pPr marL="0" indent="0">
              <a:buNone/>
            </a:pPr>
            <a:r>
              <a:rPr lang="en-US" sz="1800" dirty="0">
                <a:solidFill>
                  <a:srgbClr val="BFBFBF"/>
                </a:solidFill>
              </a:rPr>
              <a:t>AI that summarizes research papers — with citations, self-review and chat</a:t>
            </a:r>
            <a:endParaRPr lang="en-US" sz="1800" dirty="0"/>
          </a:p>
          <a:p>
            <a:pPr marL="0" indent="0">
              <a:buNone/>
            </a:pPr>
            <a:r>
              <a:rPr lang="en-US" sz="1000" dirty="0">
                <a:solidFill>
                  <a:srgbClr val="BFBFBF"/>
                </a:solidFill>
              </a:rPr>
              <a:t> </a:t>
            </a:r>
            <a:endParaRPr lang="en-US" sz="1800" dirty="0"/>
          </a:p>
          <a:p>
            <a:pPr marL="0" indent="0">
              <a:buNone/>
            </a:pPr>
            <a:r>
              <a:rPr lang="en-US" sz="1800" b="1" dirty="0">
                <a:solidFill>
                  <a:srgbClr val="FFFFFF"/>
                </a:solidFill>
              </a:rPr>
              <a:t>Akshay Kale  ·  October 2026</a:t>
            </a:r>
            <a:endParaRPr lang="en-US" sz="1800" dirty="0"/>
          </a:p>
        </p:txBody>
      </p:sp>
      <p:pic>
        <p:nvPicPr>
          <p:cNvPr id="5" name="hero screenshot" descr="Application after a completed run"/>
          <p:cNvPicPr>
            <a:picLocks noChangeAspect="1"/>
          </p:cNvPicPr>
          <p:nvPr/>
        </p:nvPicPr>
        <p:blipFill>
          <a:blip r:embed="rId3"/>
          <a:stretch>
            <a:fillRect/>
          </a:stretch>
        </p:blipFill>
        <p:spPr>
          <a:xfrm>
            <a:off x="7635240" y="1234440"/>
            <a:ext cx="4023360" cy="2514600"/>
          </a:xfrm>
          <a:prstGeom prst="rect">
            <a:avLst/>
          </a:prstGeom>
        </p:spPr>
      </p:pic>
      <p:pic>
        <p:nvPicPr>
          <p:cNvPr id="6" name="summary screenshot" descr="Cited summary view"/>
          <p:cNvPicPr>
            <a:picLocks noChangeAspect="1"/>
          </p:cNvPicPr>
          <p:nvPr/>
        </p:nvPicPr>
        <p:blipFill>
          <a:blip r:embed="rId4"/>
          <a:stretch>
            <a:fillRect/>
          </a:stretch>
        </p:blipFill>
        <p:spPr>
          <a:xfrm>
            <a:off x="7635240" y="3886200"/>
            <a:ext cx="4023360" cy="2514600"/>
          </a:xfrm>
          <a:prstGeom prst="rect">
            <a:avLst/>
          </a:prstGeom>
        </p:spPr>
      </p:pic>
      <p:sp>
        <p:nvSpPr>
          <p:cNvPr id="7" name="TextBox 6">
            <a:extLst>
              <a:ext uri="{FF2B5EF4-FFF2-40B4-BE49-F238E27FC236}">
                <a16:creationId xmlns:a16="http://schemas.microsoft.com/office/drawing/2014/main" id="{E09AA486-8B22-C4FD-DAB8-ED1E2DBCF132}"/>
              </a:ext>
            </a:extLst>
          </p:cNvPr>
          <p:cNvSpPr txBox="1"/>
          <p:nvPr/>
        </p:nvSpPr>
        <p:spPr>
          <a:xfrm>
            <a:off x="2674189" y="5658928"/>
            <a:ext cx="184731" cy="369332"/>
          </a:xfrm>
          <a:prstGeom prst="rect">
            <a:avLst/>
          </a:prstGeom>
          <a:noFill/>
        </p:spPr>
        <p:txBody>
          <a:bodyPr wrap="none" rtlCol="0">
            <a:spAutoFit/>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Paper summaries from LLMs can't be trusted blindly</a:t>
            </a:r>
            <a:endParaRPr lang="en-US" sz="3200" dirty="0"/>
          </a:p>
        </p:txBody>
      </p:sp>
      <p:sp>
        <p:nvSpPr>
          <p:cNvPr id="3" name="problem card 1"/>
          <p:cNvSpPr/>
          <p:nvPr/>
        </p:nvSpPr>
        <p:spPr>
          <a:xfrm>
            <a:off x="548640" y="1463040"/>
            <a:ext cx="3474720" cy="3246120"/>
          </a:xfrm>
          <a:prstGeom prst="roundRect">
            <a:avLst>
              <a:gd name="adj" fmla="val 2254"/>
            </a:avLst>
          </a:prstGeom>
          <a:solidFill>
            <a:schemeClr val="bg2"/>
          </a:solidFill>
          <a:ln/>
        </p:spPr>
      </p:sp>
      <p:sp>
        <p:nvSpPr>
          <p:cNvPr id="4" name="problem 1 circle"/>
          <p:cNvSpPr/>
          <p:nvPr/>
        </p:nvSpPr>
        <p:spPr>
          <a:xfrm>
            <a:off x="868680" y="1783080"/>
            <a:ext cx="731520" cy="731520"/>
          </a:xfrm>
          <a:prstGeom prst="ellipse">
            <a:avLst/>
          </a:prstGeom>
          <a:solidFill>
            <a:schemeClr val="accent6"/>
          </a:solidFill>
          <a:ln/>
        </p:spPr>
      </p:sp>
      <p:pic>
        <p:nvPicPr>
          <p:cNvPr id="5" name="problem 1 icon" descr="problem 1"/>
          <p:cNvPicPr>
            <a:picLocks noChangeAspect="1"/>
          </p:cNvPicPr>
          <p:nvPr/>
        </p:nvPicPr>
        <p:blipFill>
          <a:blip r:embed="rId3"/>
          <a:stretch>
            <a:fillRect/>
          </a:stretch>
        </p:blipFill>
        <p:spPr>
          <a:xfrm>
            <a:off x="1051560" y="1965960"/>
            <a:ext cx="365760" cy="365760"/>
          </a:xfrm>
          <a:prstGeom prst="rect">
            <a:avLst/>
          </a:prstGeom>
        </p:spPr>
      </p:pic>
      <p:sp>
        <p:nvSpPr>
          <p:cNvPr id="6" name="problem 1 title"/>
          <p:cNvSpPr txBox="1"/>
          <p:nvPr/>
        </p:nvSpPr>
        <p:spPr>
          <a:xfrm>
            <a:off x="868680" y="2697480"/>
            <a:ext cx="2834640" cy="457200"/>
          </a:xfrm>
          <a:prstGeom prst="rect">
            <a:avLst/>
          </a:prstGeom>
          <a:noFill/>
          <a:ln/>
        </p:spPr>
        <p:txBody>
          <a:bodyPr wrap="square" lIns="0" tIns="0" rIns="0" bIns="0" rtlCol="0" anchor="ctr"/>
          <a:lstStyle/>
          <a:p>
            <a:pPr marL="0" indent="0">
              <a:buNone/>
            </a:pPr>
            <a:r>
              <a:rPr lang="en-US" sz="2000" b="1" dirty="0">
                <a:solidFill>
                  <a:schemeClr val="tx1"/>
                </a:solidFill>
              </a:rPr>
              <a:t>Papers don't fit</a:t>
            </a:r>
            <a:endParaRPr lang="en-US" sz="2000" dirty="0"/>
          </a:p>
        </p:txBody>
      </p:sp>
      <p:sp>
        <p:nvSpPr>
          <p:cNvPr id="7" name="problem 1 text"/>
          <p:cNvSpPr txBox="1"/>
          <p:nvPr/>
        </p:nvSpPr>
        <p:spPr>
          <a:xfrm>
            <a:off x="868680" y="3200400"/>
            <a:ext cx="2834640" cy="1371600"/>
          </a:xfrm>
          <a:prstGeom prst="rect">
            <a:avLst/>
          </a:prstGeom>
          <a:noFill/>
          <a:ln/>
        </p:spPr>
        <p:txBody>
          <a:bodyPr wrap="square" lIns="0" tIns="0" rIns="0" bIns="0" rtlCol="0" anchor="t"/>
          <a:lstStyle/>
          <a:p>
            <a:pPr marL="0" indent="0">
              <a:buNone/>
            </a:pPr>
            <a:r>
              <a:rPr lang="en-US" sz="1500" dirty="0">
                <a:solidFill>
                  <a:schemeClr val="tx1"/>
                </a:solidFill>
              </a:rPr>
              <a:t>A full paper exceeds most context windows. Plain top-k retrieval returns three introduction chunks and misses the results and limitations.</a:t>
            </a:r>
            <a:endParaRPr lang="en-US" sz="1500" dirty="0"/>
          </a:p>
        </p:txBody>
      </p:sp>
      <p:sp>
        <p:nvSpPr>
          <p:cNvPr id="8" name="problem card 2"/>
          <p:cNvSpPr/>
          <p:nvPr/>
        </p:nvSpPr>
        <p:spPr>
          <a:xfrm>
            <a:off x="4297680" y="1463040"/>
            <a:ext cx="3474720" cy="3246120"/>
          </a:xfrm>
          <a:prstGeom prst="roundRect">
            <a:avLst>
              <a:gd name="adj" fmla="val 2254"/>
            </a:avLst>
          </a:prstGeom>
          <a:solidFill>
            <a:schemeClr val="bg2"/>
          </a:solidFill>
          <a:ln/>
        </p:spPr>
      </p:sp>
      <p:sp>
        <p:nvSpPr>
          <p:cNvPr id="9" name="problem 2 circle"/>
          <p:cNvSpPr/>
          <p:nvPr/>
        </p:nvSpPr>
        <p:spPr>
          <a:xfrm>
            <a:off x="4617720" y="1783080"/>
            <a:ext cx="731520" cy="731520"/>
          </a:xfrm>
          <a:prstGeom prst="ellipse">
            <a:avLst/>
          </a:prstGeom>
          <a:solidFill>
            <a:schemeClr val="accent6"/>
          </a:solidFill>
          <a:ln/>
        </p:spPr>
      </p:sp>
      <p:pic>
        <p:nvPicPr>
          <p:cNvPr id="10" name="problem 2 icon" descr="problem 2"/>
          <p:cNvPicPr>
            <a:picLocks noChangeAspect="1"/>
          </p:cNvPicPr>
          <p:nvPr/>
        </p:nvPicPr>
        <p:blipFill>
          <a:blip r:embed="rId4"/>
          <a:stretch>
            <a:fillRect/>
          </a:stretch>
        </p:blipFill>
        <p:spPr>
          <a:xfrm>
            <a:off x="4800600" y="1965960"/>
            <a:ext cx="365760" cy="365760"/>
          </a:xfrm>
          <a:prstGeom prst="rect">
            <a:avLst/>
          </a:prstGeom>
        </p:spPr>
      </p:pic>
      <p:sp>
        <p:nvSpPr>
          <p:cNvPr id="11" name="problem 2 title"/>
          <p:cNvSpPr txBox="1"/>
          <p:nvPr/>
        </p:nvSpPr>
        <p:spPr>
          <a:xfrm>
            <a:off x="4617720" y="2697480"/>
            <a:ext cx="2834640" cy="457200"/>
          </a:xfrm>
          <a:prstGeom prst="rect">
            <a:avLst/>
          </a:prstGeom>
          <a:noFill/>
          <a:ln/>
        </p:spPr>
        <p:txBody>
          <a:bodyPr wrap="square" lIns="0" tIns="0" rIns="0" bIns="0" rtlCol="0" anchor="ctr"/>
          <a:lstStyle/>
          <a:p>
            <a:pPr marL="0" indent="0">
              <a:buNone/>
            </a:pPr>
            <a:r>
              <a:rPr lang="en-US" sz="2000" b="1" dirty="0">
                <a:solidFill>
                  <a:schemeClr val="tx1"/>
                </a:solidFill>
              </a:rPr>
              <a:t>Hallucinations cost trust</a:t>
            </a:r>
            <a:endParaRPr lang="en-US" sz="2000" dirty="0"/>
          </a:p>
        </p:txBody>
      </p:sp>
      <p:sp>
        <p:nvSpPr>
          <p:cNvPr id="12" name="problem 2 text"/>
          <p:cNvSpPr txBox="1"/>
          <p:nvPr/>
        </p:nvSpPr>
        <p:spPr>
          <a:xfrm>
            <a:off x="4617720" y="3200400"/>
            <a:ext cx="2834640" cy="1371600"/>
          </a:xfrm>
          <a:prstGeom prst="rect">
            <a:avLst/>
          </a:prstGeom>
          <a:noFill/>
          <a:ln/>
        </p:spPr>
        <p:txBody>
          <a:bodyPr wrap="square" lIns="0" tIns="0" rIns="0" bIns="0" rtlCol="0" anchor="t"/>
          <a:lstStyle/>
          <a:p>
            <a:pPr marL="0" indent="0">
              <a:buNone/>
            </a:pPr>
            <a:r>
              <a:rPr lang="en-US" sz="1500" dirty="0">
                <a:solidFill>
                  <a:schemeClr val="tx1"/>
                </a:solidFill>
              </a:rPr>
              <a:t>One invented dataset or percentage makes a summary worse than none. Readers need to see where every claim came from.</a:t>
            </a:r>
            <a:endParaRPr lang="en-US" sz="1500" dirty="0"/>
          </a:p>
        </p:txBody>
      </p:sp>
      <p:sp>
        <p:nvSpPr>
          <p:cNvPr id="13" name="problem card 3"/>
          <p:cNvSpPr/>
          <p:nvPr/>
        </p:nvSpPr>
        <p:spPr>
          <a:xfrm>
            <a:off x="8046720" y="1463040"/>
            <a:ext cx="3474720" cy="3246120"/>
          </a:xfrm>
          <a:prstGeom prst="roundRect">
            <a:avLst>
              <a:gd name="adj" fmla="val 2254"/>
            </a:avLst>
          </a:prstGeom>
          <a:solidFill>
            <a:schemeClr val="bg2"/>
          </a:solidFill>
          <a:ln/>
        </p:spPr>
      </p:sp>
      <p:sp>
        <p:nvSpPr>
          <p:cNvPr id="14" name="problem 3 circle"/>
          <p:cNvSpPr/>
          <p:nvPr/>
        </p:nvSpPr>
        <p:spPr>
          <a:xfrm>
            <a:off x="8366760" y="1783080"/>
            <a:ext cx="731520" cy="731520"/>
          </a:xfrm>
          <a:prstGeom prst="ellipse">
            <a:avLst/>
          </a:prstGeom>
          <a:solidFill>
            <a:schemeClr val="accent6"/>
          </a:solidFill>
          <a:ln/>
        </p:spPr>
      </p:sp>
      <p:pic>
        <p:nvPicPr>
          <p:cNvPr id="15" name="problem 3 icon" descr="problem 3"/>
          <p:cNvPicPr>
            <a:picLocks noChangeAspect="1"/>
          </p:cNvPicPr>
          <p:nvPr/>
        </p:nvPicPr>
        <p:blipFill>
          <a:blip r:embed="rId5"/>
          <a:stretch>
            <a:fillRect/>
          </a:stretch>
        </p:blipFill>
        <p:spPr>
          <a:xfrm>
            <a:off x="8549640" y="1965960"/>
            <a:ext cx="365760" cy="365760"/>
          </a:xfrm>
          <a:prstGeom prst="rect">
            <a:avLst/>
          </a:prstGeom>
        </p:spPr>
      </p:pic>
      <p:sp>
        <p:nvSpPr>
          <p:cNvPr id="16" name="problem 3 title"/>
          <p:cNvSpPr txBox="1"/>
          <p:nvPr/>
        </p:nvSpPr>
        <p:spPr>
          <a:xfrm>
            <a:off x="8366760" y="2697480"/>
            <a:ext cx="2834640" cy="457200"/>
          </a:xfrm>
          <a:prstGeom prst="rect">
            <a:avLst/>
          </a:prstGeom>
          <a:noFill/>
          <a:ln/>
        </p:spPr>
        <p:txBody>
          <a:bodyPr wrap="square" lIns="0" tIns="0" rIns="0" bIns="0" rtlCol="0" anchor="ctr"/>
          <a:lstStyle/>
          <a:p>
            <a:pPr marL="0" indent="0">
              <a:buNone/>
            </a:pPr>
            <a:r>
              <a:rPr lang="en-US" sz="2000" b="1" dirty="0">
                <a:solidFill>
                  <a:schemeClr val="tx1"/>
                </a:solidFill>
              </a:rPr>
              <a:t>One prompt, every job</a:t>
            </a:r>
            <a:endParaRPr lang="en-US" sz="2000" dirty="0"/>
          </a:p>
        </p:txBody>
      </p:sp>
      <p:sp>
        <p:nvSpPr>
          <p:cNvPr id="17" name="problem 3 text"/>
          <p:cNvSpPr txBox="1"/>
          <p:nvPr/>
        </p:nvSpPr>
        <p:spPr>
          <a:xfrm>
            <a:off x="8366760" y="3200400"/>
            <a:ext cx="2834640" cy="1371600"/>
          </a:xfrm>
          <a:prstGeom prst="rect">
            <a:avLst/>
          </a:prstGeom>
          <a:noFill/>
          <a:ln/>
        </p:spPr>
        <p:txBody>
          <a:bodyPr wrap="square" lIns="0" tIns="0" rIns="0" bIns="0" rtlCol="0" anchor="t"/>
          <a:lstStyle/>
          <a:p>
            <a:pPr marL="0" indent="0">
              <a:buNone/>
            </a:pPr>
            <a:r>
              <a:rPr lang="en-US" sz="1500" dirty="0">
                <a:solidFill>
                  <a:schemeClr val="tx1"/>
                </a:solidFill>
              </a:rPr>
              <a:t>Retrieval, summarizing, fact-checking and critique in a single prompt make errors impossible to trace or fix.</a:t>
            </a:r>
            <a:endParaRPr lang="en-US" sz="1500" dirty="0"/>
          </a:p>
        </p:txBody>
      </p:sp>
      <p:sp>
        <p:nvSpPr>
          <p:cNvPr id="18" name="goal band"/>
          <p:cNvSpPr/>
          <p:nvPr/>
        </p:nvSpPr>
        <p:spPr>
          <a:xfrm>
            <a:off x="548640" y="4983480"/>
            <a:ext cx="11094415" cy="1143000"/>
          </a:xfrm>
          <a:prstGeom prst="roundRect">
            <a:avLst>
              <a:gd name="adj" fmla="val 6400"/>
            </a:avLst>
          </a:prstGeom>
          <a:solidFill>
            <a:schemeClr val="tx2"/>
          </a:solidFill>
          <a:ln/>
        </p:spPr>
      </p:sp>
      <p:sp>
        <p:nvSpPr>
          <p:cNvPr id="19" name="goal text"/>
          <p:cNvSpPr txBox="1"/>
          <p:nvPr/>
        </p:nvSpPr>
        <p:spPr>
          <a:xfrm>
            <a:off x="868680" y="4983480"/>
            <a:ext cx="10454335" cy="1143000"/>
          </a:xfrm>
          <a:prstGeom prst="rect">
            <a:avLst/>
          </a:prstGeom>
          <a:noFill/>
          <a:ln/>
        </p:spPr>
        <p:txBody>
          <a:bodyPr wrap="square" lIns="0" tIns="0" rIns="0" bIns="0" rtlCol="0" anchor="ctr"/>
          <a:lstStyle/>
          <a:p>
            <a:pPr marL="0" indent="0">
              <a:buNone/>
            </a:pPr>
            <a:r>
              <a:rPr lang="en-US" sz="1700" b="1" dirty="0">
                <a:solidFill>
                  <a:srgbClr val="FDECEC"/>
                </a:solidFill>
              </a:rPr>
              <a:t>Goal  </a:t>
            </a:r>
            <a:r>
              <a:rPr lang="en-US" sz="1700" dirty="0">
                <a:solidFill>
                  <a:schemeClr val="bg1"/>
                </a:solidFill>
              </a:rPr>
              <a:t>An autonomous, auditable assistant that covers every part of a paper, cites every statement, checks its own output before showing it — and runs on a laptop without paid APIs.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Six objectives, each mapped to a component</a:t>
            </a:r>
            <a:endParaRPr lang="en-US" sz="3200" dirty="0"/>
          </a:p>
        </p:txBody>
      </p:sp>
      <p:sp>
        <p:nvSpPr>
          <p:cNvPr id="3" name="objective 1"/>
          <p:cNvSpPr/>
          <p:nvPr/>
        </p:nvSpPr>
        <p:spPr>
          <a:xfrm>
            <a:off x="548640" y="1417320"/>
            <a:ext cx="5440680" cy="1417320"/>
          </a:xfrm>
          <a:prstGeom prst="roundRect">
            <a:avLst>
              <a:gd name="adj" fmla="val 5161"/>
            </a:avLst>
          </a:prstGeom>
          <a:solidFill>
            <a:schemeClr val="bg2"/>
          </a:solidFill>
          <a:ln/>
        </p:spPr>
      </p:sp>
      <p:sp>
        <p:nvSpPr>
          <p:cNvPr id="4" name="objective 1 number"/>
          <p:cNvSpPr txBox="1"/>
          <p:nvPr/>
        </p:nvSpPr>
        <p:spPr>
          <a:xfrm>
            <a:off x="822960" y="14173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01</a:t>
            </a:r>
            <a:endParaRPr lang="en-US" sz="3600" dirty="0"/>
          </a:p>
        </p:txBody>
      </p:sp>
      <p:sp>
        <p:nvSpPr>
          <p:cNvPr id="5" name="objective 1 text"/>
          <p:cNvSpPr txBox="1"/>
          <p:nvPr/>
        </p:nvSpPr>
        <p:spPr>
          <a:xfrm>
            <a:off x="1691640" y="14173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Ingest any paper</a:t>
            </a:r>
            <a:endParaRPr lang="en-US" sz="1800" dirty="0"/>
          </a:p>
          <a:p>
            <a:pPr marL="0" indent="0">
              <a:buNone/>
            </a:pPr>
            <a:r>
              <a:rPr lang="en-US" sz="1400" dirty="0">
                <a:solidFill>
                  <a:srgbClr val="5B6573"/>
                </a:solidFill>
              </a:rPr>
              <a:t>PDF, Word, PowerPoint, Excel, CSV, text and arXiv IDs, with title, authors, abstract and sections extracted</a:t>
            </a:r>
            <a:endParaRPr lang="en-US" sz="1800" dirty="0"/>
          </a:p>
        </p:txBody>
      </p:sp>
      <p:sp>
        <p:nvSpPr>
          <p:cNvPr id="6" name="objective 2"/>
          <p:cNvSpPr/>
          <p:nvPr/>
        </p:nvSpPr>
        <p:spPr>
          <a:xfrm>
            <a:off x="6172200" y="1417320"/>
            <a:ext cx="5440680" cy="1417320"/>
          </a:xfrm>
          <a:prstGeom prst="roundRect">
            <a:avLst>
              <a:gd name="adj" fmla="val 5161"/>
            </a:avLst>
          </a:prstGeom>
          <a:solidFill>
            <a:schemeClr val="bg2"/>
          </a:solidFill>
          <a:ln/>
        </p:spPr>
      </p:sp>
      <p:sp>
        <p:nvSpPr>
          <p:cNvPr id="7" name="objective 2 number"/>
          <p:cNvSpPr txBox="1"/>
          <p:nvPr/>
        </p:nvSpPr>
        <p:spPr>
          <a:xfrm>
            <a:off x="6446520" y="14173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02</a:t>
            </a:r>
            <a:endParaRPr lang="en-US" sz="3600" dirty="0"/>
          </a:p>
        </p:txBody>
      </p:sp>
      <p:sp>
        <p:nvSpPr>
          <p:cNvPr id="8" name="objective 2 text"/>
          <p:cNvSpPr txBox="1"/>
          <p:nvPr/>
        </p:nvSpPr>
        <p:spPr>
          <a:xfrm>
            <a:off x="7315200" y="14173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Retrieve complete evidence</a:t>
            </a:r>
            <a:endParaRPr lang="en-US" sz="1800" dirty="0"/>
          </a:p>
          <a:p>
            <a:pPr marL="0" indent="0">
              <a:buNone/>
            </a:pPr>
            <a:r>
              <a:rPr lang="en-US" sz="1400" dirty="0">
                <a:solidFill>
                  <a:srgbClr val="5B6573"/>
                </a:solidFill>
              </a:rPr>
              <a:t>Section-aware chunking and retrieval so every part of the paper is represented</a:t>
            </a:r>
            <a:endParaRPr lang="en-US" sz="1800" dirty="0"/>
          </a:p>
        </p:txBody>
      </p:sp>
      <p:sp>
        <p:nvSpPr>
          <p:cNvPr id="9" name="objective 3"/>
          <p:cNvSpPr/>
          <p:nvPr/>
        </p:nvSpPr>
        <p:spPr>
          <a:xfrm>
            <a:off x="548640" y="3017520"/>
            <a:ext cx="5440680" cy="1417320"/>
          </a:xfrm>
          <a:prstGeom prst="roundRect">
            <a:avLst>
              <a:gd name="adj" fmla="val 5161"/>
            </a:avLst>
          </a:prstGeom>
          <a:solidFill>
            <a:schemeClr val="bg2"/>
          </a:solidFill>
          <a:ln/>
        </p:spPr>
      </p:sp>
      <p:sp>
        <p:nvSpPr>
          <p:cNvPr id="10" name="objective 3 number"/>
          <p:cNvSpPr txBox="1"/>
          <p:nvPr/>
        </p:nvSpPr>
        <p:spPr>
          <a:xfrm>
            <a:off x="822960" y="30175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03</a:t>
            </a:r>
            <a:endParaRPr lang="en-US" sz="3600" dirty="0"/>
          </a:p>
        </p:txBody>
      </p:sp>
      <p:sp>
        <p:nvSpPr>
          <p:cNvPr id="11" name="objective 3 text"/>
          <p:cNvSpPr txBox="1"/>
          <p:nvPr/>
        </p:nvSpPr>
        <p:spPr>
          <a:xfrm>
            <a:off x="1691640" y="30175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Summarize with citations</a:t>
            </a:r>
            <a:endParaRPr lang="en-US" sz="1800" dirty="0"/>
          </a:p>
          <a:p>
            <a:pPr marL="0" indent="0">
              <a:buNone/>
            </a:pPr>
            <a:r>
              <a:rPr lang="en-US" sz="1400" dirty="0">
                <a:solidFill>
                  <a:srgbClr val="5B6573"/>
                </a:solidFill>
              </a:rPr>
              <a:t>8 fixed sections; every bullet tagged with the passage it came from</a:t>
            </a:r>
            <a:endParaRPr lang="en-US" sz="1800" dirty="0"/>
          </a:p>
        </p:txBody>
      </p:sp>
      <p:sp>
        <p:nvSpPr>
          <p:cNvPr id="12" name="objective 4"/>
          <p:cNvSpPr/>
          <p:nvPr/>
        </p:nvSpPr>
        <p:spPr>
          <a:xfrm>
            <a:off x="6172200" y="3017520"/>
            <a:ext cx="5440680" cy="1417320"/>
          </a:xfrm>
          <a:prstGeom prst="roundRect">
            <a:avLst>
              <a:gd name="adj" fmla="val 5161"/>
            </a:avLst>
          </a:prstGeom>
          <a:solidFill>
            <a:schemeClr val="bg2"/>
          </a:solidFill>
          <a:ln/>
        </p:spPr>
      </p:sp>
      <p:sp>
        <p:nvSpPr>
          <p:cNvPr id="13" name="objective 4 number"/>
          <p:cNvSpPr txBox="1"/>
          <p:nvPr/>
        </p:nvSpPr>
        <p:spPr>
          <a:xfrm>
            <a:off x="6446520" y="30175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04</a:t>
            </a:r>
            <a:endParaRPr lang="en-US" sz="3600" dirty="0"/>
          </a:p>
        </p:txBody>
      </p:sp>
      <p:sp>
        <p:nvSpPr>
          <p:cNvPr id="14" name="objective 4 text"/>
          <p:cNvSpPr txBox="1"/>
          <p:nvPr/>
        </p:nvSpPr>
        <p:spPr>
          <a:xfrm>
            <a:off x="7315200" y="30175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Verify before showing</a:t>
            </a:r>
            <a:endParaRPr lang="en-US" sz="1800" dirty="0"/>
          </a:p>
          <a:p>
            <a:pPr marL="0" indent="0">
              <a:buNone/>
            </a:pPr>
            <a:r>
              <a:rPr lang="en-US" sz="1400" dirty="0">
                <a:solidFill>
                  <a:srgbClr val="5B6573"/>
                </a:solidFill>
              </a:rPr>
              <a:t>A Reviewer agent scores the summary and sends it back for revision</a:t>
            </a:r>
            <a:endParaRPr lang="en-US" sz="1800" dirty="0"/>
          </a:p>
        </p:txBody>
      </p:sp>
      <p:sp>
        <p:nvSpPr>
          <p:cNvPr id="15" name="objective 5"/>
          <p:cNvSpPr/>
          <p:nvPr/>
        </p:nvSpPr>
        <p:spPr>
          <a:xfrm>
            <a:off x="548640" y="4617720"/>
            <a:ext cx="5440680" cy="1417320"/>
          </a:xfrm>
          <a:prstGeom prst="roundRect">
            <a:avLst>
              <a:gd name="adj" fmla="val 5161"/>
            </a:avLst>
          </a:prstGeom>
          <a:solidFill>
            <a:schemeClr val="bg2"/>
          </a:solidFill>
          <a:ln/>
        </p:spPr>
      </p:sp>
      <p:sp>
        <p:nvSpPr>
          <p:cNvPr id="16" name="objective 5 number"/>
          <p:cNvSpPr txBox="1"/>
          <p:nvPr/>
        </p:nvSpPr>
        <p:spPr>
          <a:xfrm>
            <a:off x="822960" y="46177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05</a:t>
            </a:r>
            <a:endParaRPr lang="en-US" sz="3600" dirty="0"/>
          </a:p>
        </p:txBody>
      </p:sp>
      <p:sp>
        <p:nvSpPr>
          <p:cNvPr id="17" name="objective 5 text"/>
          <p:cNvSpPr txBox="1"/>
          <p:nvPr/>
        </p:nvSpPr>
        <p:spPr>
          <a:xfrm>
            <a:off x="1691640" y="46177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Go beyond summaries</a:t>
            </a:r>
            <a:endParaRPr lang="en-US" sz="1800" dirty="0"/>
          </a:p>
          <a:p>
            <a:pPr marL="0" indent="0">
              <a:buNone/>
            </a:pPr>
            <a:r>
              <a:rPr lang="en-US" sz="1400" dirty="0">
                <a:solidFill>
                  <a:srgbClr val="5B6573"/>
                </a:solidFill>
              </a:rPr>
              <a:t>Critical analysis, cross-paper comparison, research brief, cited chat</a:t>
            </a:r>
            <a:endParaRPr lang="en-US" sz="1800" dirty="0"/>
          </a:p>
        </p:txBody>
      </p:sp>
      <p:sp>
        <p:nvSpPr>
          <p:cNvPr id="18" name="objective 6"/>
          <p:cNvSpPr/>
          <p:nvPr/>
        </p:nvSpPr>
        <p:spPr>
          <a:xfrm>
            <a:off x="6172200" y="4617720"/>
            <a:ext cx="5440680" cy="1417320"/>
          </a:xfrm>
          <a:prstGeom prst="roundRect">
            <a:avLst>
              <a:gd name="adj" fmla="val 5161"/>
            </a:avLst>
          </a:prstGeom>
          <a:solidFill>
            <a:schemeClr val="bg2"/>
          </a:solidFill>
          <a:ln/>
        </p:spPr>
      </p:sp>
      <p:sp>
        <p:nvSpPr>
          <p:cNvPr id="19" name="objective 6 number"/>
          <p:cNvSpPr txBox="1"/>
          <p:nvPr/>
        </p:nvSpPr>
        <p:spPr>
          <a:xfrm>
            <a:off x="6446520" y="4617720"/>
            <a:ext cx="822960" cy="1417320"/>
          </a:xfrm>
          <a:prstGeom prst="rect">
            <a:avLst/>
          </a:prstGeom>
          <a:noFill/>
          <a:ln/>
        </p:spPr>
        <p:txBody>
          <a:bodyPr wrap="square" lIns="0" tIns="0" rIns="0" bIns="0" rtlCol="0" anchor="ctr"/>
          <a:lstStyle/>
          <a:p>
            <a:pPr marL="0" indent="0">
              <a:buNone/>
            </a:pPr>
            <a:r>
              <a:rPr lang="en-US" sz="3600" b="1" dirty="0">
                <a:solidFill>
                  <a:schemeClr val="accent1"/>
                </a:solidFill>
              </a:rPr>
              <a:t>06</a:t>
            </a:r>
            <a:endParaRPr lang="en-US" sz="3600" dirty="0"/>
          </a:p>
        </p:txBody>
      </p:sp>
      <p:sp>
        <p:nvSpPr>
          <p:cNvPr id="20" name="objective 6 text"/>
          <p:cNvSpPr txBox="1"/>
          <p:nvPr/>
        </p:nvSpPr>
        <p:spPr>
          <a:xfrm>
            <a:off x="7315200" y="4617720"/>
            <a:ext cx="4069080" cy="1417320"/>
          </a:xfrm>
          <a:prstGeom prst="rect">
            <a:avLst/>
          </a:prstGeom>
          <a:noFill/>
          <a:ln/>
        </p:spPr>
        <p:txBody>
          <a:bodyPr wrap="square" lIns="0" tIns="0" rIns="0" bIns="0" rtlCol="0" anchor="ctr"/>
          <a:lstStyle/>
          <a:p>
            <a:pPr marL="0" indent="0">
              <a:buNone/>
            </a:pPr>
            <a:r>
              <a:rPr lang="en-US" sz="1800" b="1" dirty="0">
                <a:solidFill>
                  <a:schemeClr val="tx1"/>
                </a:solidFill>
              </a:rPr>
              <a:t>Run anywhere</a:t>
            </a:r>
            <a:endParaRPr lang="en-US" sz="1800" dirty="0"/>
          </a:p>
          <a:p>
            <a:pPr marL="0" indent="0">
              <a:buNone/>
            </a:pPr>
            <a:r>
              <a:rPr lang="en-US" sz="1400" dirty="0">
                <a:solidFill>
                  <a:srgbClr val="5B6573"/>
                </a:solidFill>
              </a:rPr>
              <a:t>OpenAI, Llama 3, Gemini — or fully offline with no API key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Technology stack</a:t>
            </a:r>
            <a:endParaRPr lang="en-US" sz="3200" dirty="0"/>
          </a:p>
        </p:txBody>
      </p:sp>
      <p:sp>
        <p:nvSpPr>
          <p:cNvPr id="3" name="stack 1 circle"/>
          <p:cNvSpPr/>
          <p:nvPr/>
        </p:nvSpPr>
        <p:spPr>
          <a:xfrm>
            <a:off x="548640" y="1600200"/>
            <a:ext cx="822960" cy="822960"/>
          </a:xfrm>
          <a:prstGeom prst="ellipse">
            <a:avLst/>
          </a:prstGeom>
          <a:solidFill>
            <a:schemeClr val="tx2"/>
          </a:solidFill>
          <a:ln/>
        </p:spPr>
      </p:sp>
      <p:pic>
        <p:nvPicPr>
          <p:cNvPr id="4" name="stack 1 icon" descr="stack 1"/>
          <p:cNvPicPr>
            <a:picLocks noChangeAspect="1"/>
          </p:cNvPicPr>
          <p:nvPr/>
        </p:nvPicPr>
        <p:blipFill>
          <a:blip r:embed="rId3"/>
          <a:stretch>
            <a:fillRect/>
          </a:stretch>
        </p:blipFill>
        <p:spPr>
          <a:xfrm>
            <a:off x="754380" y="1805940"/>
            <a:ext cx="411480" cy="411480"/>
          </a:xfrm>
          <a:prstGeom prst="rect">
            <a:avLst/>
          </a:prstGeom>
        </p:spPr>
      </p:pic>
      <p:sp>
        <p:nvSpPr>
          <p:cNvPr id="5" name="stack 1 text"/>
          <p:cNvSpPr txBox="1"/>
          <p:nvPr/>
        </p:nvSpPr>
        <p:spPr>
          <a:xfrm>
            <a:off x="1600200" y="14173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Orchestration</a:t>
            </a:r>
            <a:endParaRPr lang="en-US" sz="1800" dirty="0"/>
          </a:p>
          <a:p>
            <a:pPr marL="0" indent="0">
              <a:buNone/>
            </a:pPr>
            <a:r>
              <a:rPr lang="en-US" sz="1400" dirty="0">
                <a:solidFill>
                  <a:srgbClr val="5B6573"/>
                </a:solidFill>
              </a:rPr>
              <a:t>LangGraph 1.2 StateGraph · LangChain 1.4 (LCEL: prompt | llm | parser)</a:t>
            </a:r>
            <a:endParaRPr lang="en-US" sz="1800" dirty="0"/>
          </a:p>
        </p:txBody>
      </p:sp>
      <p:sp>
        <p:nvSpPr>
          <p:cNvPr id="6" name="stack 2 circle"/>
          <p:cNvSpPr/>
          <p:nvPr/>
        </p:nvSpPr>
        <p:spPr>
          <a:xfrm>
            <a:off x="6172200" y="1600200"/>
            <a:ext cx="822960" cy="822960"/>
          </a:xfrm>
          <a:prstGeom prst="ellipse">
            <a:avLst/>
          </a:prstGeom>
          <a:solidFill>
            <a:schemeClr val="tx2"/>
          </a:solidFill>
          <a:ln/>
        </p:spPr>
      </p:sp>
      <p:pic>
        <p:nvPicPr>
          <p:cNvPr id="7" name="stack 2 icon" descr="stack 2"/>
          <p:cNvPicPr>
            <a:picLocks noChangeAspect="1"/>
          </p:cNvPicPr>
          <p:nvPr/>
        </p:nvPicPr>
        <p:blipFill>
          <a:blip r:embed="rId4"/>
          <a:stretch>
            <a:fillRect/>
          </a:stretch>
        </p:blipFill>
        <p:spPr>
          <a:xfrm>
            <a:off x="6377940" y="1805940"/>
            <a:ext cx="411480" cy="411480"/>
          </a:xfrm>
          <a:prstGeom prst="rect">
            <a:avLst/>
          </a:prstGeom>
        </p:spPr>
      </p:pic>
      <p:sp>
        <p:nvSpPr>
          <p:cNvPr id="8" name="stack 2 text"/>
          <p:cNvSpPr txBox="1"/>
          <p:nvPr/>
        </p:nvSpPr>
        <p:spPr>
          <a:xfrm>
            <a:off x="7223760" y="14173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Language models</a:t>
            </a:r>
            <a:endParaRPr lang="en-US" sz="1800" dirty="0"/>
          </a:p>
          <a:p>
            <a:pPr marL="0" indent="0">
              <a:buNone/>
            </a:pPr>
            <a:r>
              <a:rPr lang="en-US" sz="1400" dirty="0">
                <a:solidFill>
                  <a:srgbClr val="5B6573"/>
                </a:solidFill>
              </a:rPr>
              <a:t>OpenAI GPT · Llama 3 via Groq · Google Gemini · offline extractive model (TF-IDF)</a:t>
            </a:r>
            <a:endParaRPr lang="en-US" sz="1800" dirty="0"/>
          </a:p>
        </p:txBody>
      </p:sp>
      <p:sp>
        <p:nvSpPr>
          <p:cNvPr id="9" name="stack 3 circle"/>
          <p:cNvSpPr/>
          <p:nvPr/>
        </p:nvSpPr>
        <p:spPr>
          <a:xfrm>
            <a:off x="548640" y="3200400"/>
            <a:ext cx="822960" cy="822960"/>
          </a:xfrm>
          <a:prstGeom prst="ellipse">
            <a:avLst/>
          </a:prstGeom>
          <a:solidFill>
            <a:schemeClr val="tx2"/>
          </a:solidFill>
          <a:ln/>
        </p:spPr>
      </p:sp>
      <p:pic>
        <p:nvPicPr>
          <p:cNvPr id="10" name="stack 3 icon" descr="stack 3"/>
          <p:cNvPicPr>
            <a:picLocks noChangeAspect="1"/>
          </p:cNvPicPr>
          <p:nvPr/>
        </p:nvPicPr>
        <p:blipFill>
          <a:blip r:embed="rId5"/>
          <a:stretch>
            <a:fillRect/>
          </a:stretch>
        </p:blipFill>
        <p:spPr>
          <a:xfrm>
            <a:off x="754380" y="3406140"/>
            <a:ext cx="411480" cy="411480"/>
          </a:xfrm>
          <a:prstGeom prst="rect">
            <a:avLst/>
          </a:prstGeom>
        </p:spPr>
      </p:pic>
      <p:sp>
        <p:nvSpPr>
          <p:cNvPr id="11" name="stack 3 text"/>
          <p:cNvSpPr txBox="1"/>
          <p:nvPr/>
        </p:nvSpPr>
        <p:spPr>
          <a:xfrm>
            <a:off x="1600200" y="30175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Embeddings</a:t>
            </a:r>
            <a:endParaRPr lang="en-US" sz="1800" dirty="0"/>
          </a:p>
          <a:p>
            <a:pPr marL="0" indent="0">
              <a:buNone/>
            </a:pPr>
            <a:r>
              <a:rPr lang="en-US" sz="1400" dirty="0">
                <a:solidFill>
                  <a:srgbClr val="5B6573"/>
                </a:solidFill>
              </a:rPr>
              <a:t>sentence-transformers all-MiniLM-L6-v2 (384-d) · HashingVectorizer fallback</a:t>
            </a:r>
            <a:endParaRPr lang="en-US" sz="1800" dirty="0"/>
          </a:p>
        </p:txBody>
      </p:sp>
      <p:sp>
        <p:nvSpPr>
          <p:cNvPr id="12" name="stack 4 circle"/>
          <p:cNvSpPr/>
          <p:nvPr/>
        </p:nvSpPr>
        <p:spPr>
          <a:xfrm>
            <a:off x="6172200" y="3200400"/>
            <a:ext cx="822960" cy="822960"/>
          </a:xfrm>
          <a:prstGeom prst="ellipse">
            <a:avLst/>
          </a:prstGeom>
          <a:solidFill>
            <a:schemeClr val="tx2"/>
          </a:solidFill>
          <a:ln/>
        </p:spPr>
      </p:sp>
      <p:pic>
        <p:nvPicPr>
          <p:cNvPr id="13" name="stack 4 icon" descr="stack 4"/>
          <p:cNvPicPr>
            <a:picLocks noChangeAspect="1"/>
          </p:cNvPicPr>
          <p:nvPr/>
        </p:nvPicPr>
        <p:blipFill>
          <a:blip r:embed="rId6"/>
          <a:stretch>
            <a:fillRect/>
          </a:stretch>
        </p:blipFill>
        <p:spPr>
          <a:xfrm>
            <a:off x="6377940" y="3406140"/>
            <a:ext cx="411480" cy="411480"/>
          </a:xfrm>
          <a:prstGeom prst="rect">
            <a:avLst/>
          </a:prstGeom>
        </p:spPr>
      </p:pic>
      <p:sp>
        <p:nvSpPr>
          <p:cNvPr id="14" name="stack 4 text"/>
          <p:cNvSpPr txBox="1"/>
          <p:nvPr/>
        </p:nvSpPr>
        <p:spPr>
          <a:xfrm>
            <a:off x="7223760" y="30175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Vector store</a:t>
            </a:r>
            <a:endParaRPr lang="en-US" sz="1800" dirty="0"/>
          </a:p>
          <a:p>
            <a:pPr marL="0" indent="0">
              <a:buNone/>
            </a:pPr>
            <a:r>
              <a:rPr lang="en-US" sz="1400" dirty="0">
                <a:solidFill>
                  <a:srgbClr val="5B6573"/>
                </a:solidFill>
              </a:rPr>
              <a:t>FAISS (faiss-cpu 1.15) with MMR search and an on-disk cache</a:t>
            </a:r>
            <a:endParaRPr lang="en-US" sz="1800" dirty="0"/>
          </a:p>
        </p:txBody>
      </p:sp>
      <p:sp>
        <p:nvSpPr>
          <p:cNvPr id="15" name="stack 5 circle"/>
          <p:cNvSpPr/>
          <p:nvPr/>
        </p:nvSpPr>
        <p:spPr>
          <a:xfrm>
            <a:off x="548640" y="4800600"/>
            <a:ext cx="822960" cy="822960"/>
          </a:xfrm>
          <a:prstGeom prst="ellipse">
            <a:avLst/>
          </a:prstGeom>
          <a:solidFill>
            <a:schemeClr val="tx2"/>
          </a:solidFill>
          <a:ln/>
        </p:spPr>
      </p:sp>
      <p:pic>
        <p:nvPicPr>
          <p:cNvPr id="16" name="stack 5 icon" descr="stack 5"/>
          <p:cNvPicPr>
            <a:picLocks noChangeAspect="1"/>
          </p:cNvPicPr>
          <p:nvPr/>
        </p:nvPicPr>
        <p:blipFill>
          <a:blip r:embed="rId7"/>
          <a:stretch>
            <a:fillRect/>
          </a:stretch>
        </p:blipFill>
        <p:spPr>
          <a:xfrm>
            <a:off x="754380" y="5006340"/>
            <a:ext cx="411480" cy="411480"/>
          </a:xfrm>
          <a:prstGeom prst="rect">
            <a:avLst/>
          </a:prstGeom>
        </p:spPr>
      </p:pic>
      <p:sp>
        <p:nvSpPr>
          <p:cNvPr id="17" name="stack 5 text"/>
          <p:cNvSpPr txBox="1"/>
          <p:nvPr/>
        </p:nvSpPr>
        <p:spPr>
          <a:xfrm>
            <a:off x="1600200" y="46177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Documents</a:t>
            </a:r>
            <a:endParaRPr lang="en-US" sz="1800" dirty="0"/>
          </a:p>
          <a:p>
            <a:pPr marL="0" indent="0">
              <a:buNone/>
            </a:pPr>
            <a:r>
              <a:rPr lang="en-US" sz="1400" dirty="0">
                <a:solidFill>
                  <a:srgbClr val="5B6573"/>
                </a:solidFill>
              </a:rPr>
              <a:t>pypdf · python-docx · python-pptx · openpyxl · pandas</a:t>
            </a:r>
            <a:endParaRPr lang="en-US" sz="1800" dirty="0"/>
          </a:p>
        </p:txBody>
      </p:sp>
      <p:sp>
        <p:nvSpPr>
          <p:cNvPr id="18" name="stack 6 circle"/>
          <p:cNvSpPr/>
          <p:nvPr/>
        </p:nvSpPr>
        <p:spPr>
          <a:xfrm>
            <a:off x="6172200" y="4800600"/>
            <a:ext cx="822960" cy="822960"/>
          </a:xfrm>
          <a:prstGeom prst="ellipse">
            <a:avLst/>
          </a:prstGeom>
          <a:solidFill>
            <a:schemeClr val="tx2"/>
          </a:solidFill>
          <a:ln/>
        </p:spPr>
      </p:sp>
      <p:pic>
        <p:nvPicPr>
          <p:cNvPr id="19" name="stack 6 icon" descr="stack 6"/>
          <p:cNvPicPr>
            <a:picLocks noChangeAspect="1"/>
          </p:cNvPicPr>
          <p:nvPr/>
        </p:nvPicPr>
        <p:blipFill>
          <a:blip r:embed="rId8"/>
          <a:stretch>
            <a:fillRect/>
          </a:stretch>
        </p:blipFill>
        <p:spPr>
          <a:xfrm>
            <a:off x="6377940" y="5006340"/>
            <a:ext cx="411480" cy="411480"/>
          </a:xfrm>
          <a:prstGeom prst="rect">
            <a:avLst/>
          </a:prstGeom>
        </p:spPr>
      </p:pic>
      <p:sp>
        <p:nvSpPr>
          <p:cNvPr id="20" name="stack 6 text"/>
          <p:cNvSpPr txBox="1"/>
          <p:nvPr/>
        </p:nvSpPr>
        <p:spPr>
          <a:xfrm>
            <a:off x="7223760" y="4617720"/>
            <a:ext cx="4389120" cy="1188720"/>
          </a:xfrm>
          <a:prstGeom prst="rect">
            <a:avLst/>
          </a:prstGeom>
          <a:noFill/>
          <a:ln/>
        </p:spPr>
        <p:txBody>
          <a:bodyPr wrap="square" lIns="0" tIns="0" rIns="0" bIns="0" rtlCol="0" anchor="ctr"/>
          <a:lstStyle/>
          <a:p>
            <a:pPr marL="0" indent="0">
              <a:buNone/>
            </a:pPr>
            <a:r>
              <a:rPr lang="en-US" sz="1800" b="1" dirty="0">
                <a:solidFill>
                  <a:schemeClr val="tx1"/>
                </a:solidFill>
              </a:rPr>
              <a:t>Interface &amp; export</a:t>
            </a:r>
            <a:endParaRPr lang="en-US" sz="1800" dirty="0"/>
          </a:p>
          <a:p>
            <a:pPr marL="0" indent="0">
              <a:buNone/>
            </a:pPr>
            <a:r>
              <a:rPr lang="en-US" sz="1400" dirty="0">
                <a:solidFill>
                  <a:srgbClr val="5B6573"/>
                </a:solidFill>
              </a:rPr>
              <a:t>Streamlit 1.66 · ReportLab (PDF) · python-docx (DOCX) · Markdown</a:t>
            </a:r>
            <a:endParaRPr lang="en-US" sz="1800" dirty="0"/>
          </a:p>
        </p:txBody>
      </p:sp>
      <p:sp>
        <p:nvSpPr>
          <p:cNvPr id="21" name="stack footnote"/>
          <p:cNvSpPr txBox="1"/>
          <p:nvPr/>
        </p:nvSpPr>
        <p:spPr>
          <a:xfrm>
            <a:off x="548640" y="5897880"/>
            <a:ext cx="11094415" cy="320040"/>
          </a:xfrm>
          <a:prstGeom prst="rect">
            <a:avLst/>
          </a:prstGeom>
          <a:noFill/>
          <a:ln/>
        </p:spPr>
        <p:txBody>
          <a:bodyPr wrap="square" lIns="0" tIns="0" rIns="0" bIns="0" rtlCol="0" anchor="ctr"/>
          <a:lstStyle/>
          <a:p>
            <a:pPr marL="0" indent="0">
              <a:buNone/>
            </a:pPr>
            <a:r>
              <a:rPr lang="en-US" sz="1200" i="1" dirty="0">
                <a:solidFill>
                  <a:schemeClr val="accent5"/>
                </a:solidFill>
              </a:rPr>
              <a:t>Python 3.13 · python-dotenv · SQLite LLM cache · rotating log file — all versions pinned in requirements.txt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System architecture</a:t>
            </a:r>
            <a:endParaRPr lang="en-US" sz="3200" dirty="0"/>
          </a:p>
        </p:txBody>
      </p:sp>
      <p:pic>
        <p:nvPicPr>
          <p:cNvPr id="3" name="architecture diagram" descr="System architecture: Streamlit input, ingestion and FAISS indexing, retriever, LangGraph agent workflow, Q&amp;A agent, LLM factory, Streamlit output and export"/>
          <p:cNvPicPr>
            <a:picLocks noChangeAspect="1"/>
          </p:cNvPicPr>
          <p:nvPr/>
        </p:nvPicPr>
        <p:blipFill>
          <a:blip r:embed="rId3"/>
          <a:stretch>
            <a:fillRect/>
          </a:stretch>
        </p:blipFill>
        <p:spPr>
          <a:xfrm>
            <a:off x="1155436" y="1234440"/>
            <a:ext cx="9880824" cy="4434840"/>
          </a:xfrm>
          <a:prstGeom prst="rect">
            <a:avLst/>
          </a:prstGeom>
        </p:spPr>
      </p:pic>
      <p:sp>
        <p:nvSpPr>
          <p:cNvPr id="4" name="architecture caption"/>
          <p:cNvSpPr txBox="1"/>
          <p:nvPr/>
        </p:nvSpPr>
        <p:spPr>
          <a:xfrm>
            <a:off x="548640" y="5806440"/>
            <a:ext cx="11094415" cy="365760"/>
          </a:xfrm>
          <a:prstGeom prst="rect">
            <a:avLst/>
          </a:prstGeom>
          <a:noFill/>
          <a:ln/>
        </p:spPr>
        <p:txBody>
          <a:bodyPr wrap="square" lIns="0" tIns="0" rIns="0" bIns="0" rtlCol="0" anchor="ctr"/>
          <a:lstStyle/>
          <a:p>
            <a:pPr marL="0" indent="0" algn="ctr">
              <a:buNone/>
            </a:pPr>
            <a:r>
              <a:rPr lang="en-US" sz="1300" dirty="0">
                <a:solidFill>
                  <a:schemeClr val="accent5"/>
                </a:solidFill>
              </a:rPr>
              <a:t>Seven layers in one file (app.py, 19 sections): UI → ingestion &amp; indexing → retrieval → agent workflow + conversational RAG → LLM factory → results &amp; export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Agent workflow: seven steps with a self-review loop</a:t>
            </a:r>
            <a:endParaRPr lang="en-US" sz="3200" dirty="0"/>
          </a:p>
        </p:txBody>
      </p:sp>
      <p:sp>
        <p:nvSpPr>
          <p:cNvPr id="3" name="step 1 box"/>
          <p:cNvSpPr/>
          <p:nvPr/>
        </p:nvSpPr>
        <p:spPr>
          <a:xfrm>
            <a:off x="548640" y="1600200"/>
            <a:ext cx="1481328" cy="1600200"/>
          </a:xfrm>
          <a:prstGeom prst="roundRect">
            <a:avLst>
              <a:gd name="adj" fmla="val 4938"/>
            </a:avLst>
          </a:prstGeom>
          <a:solidFill>
            <a:schemeClr val="bg2"/>
          </a:solidFill>
          <a:ln/>
        </p:spPr>
      </p:sp>
      <p:sp>
        <p:nvSpPr>
          <p:cNvPr id="4" name="step 1 text"/>
          <p:cNvSpPr txBox="1"/>
          <p:nvPr/>
        </p:nvSpPr>
        <p:spPr>
          <a:xfrm>
            <a:off x="658368"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1</a:t>
            </a:r>
            <a:endParaRPr lang="en-US" sz="2200" dirty="0"/>
          </a:p>
          <a:p>
            <a:pPr marL="0" indent="0">
              <a:buNone/>
            </a:pPr>
            <a:r>
              <a:rPr lang="en-US" sz="1600" b="1" dirty="0">
                <a:solidFill>
                  <a:srgbClr val="141414"/>
                </a:solidFill>
              </a:rPr>
              <a:t>Plan</a:t>
            </a:r>
            <a:endParaRPr lang="en-US" sz="2200" dirty="0"/>
          </a:p>
          <a:p>
            <a:pPr marL="0" indent="0">
              <a:buNone/>
            </a:pPr>
            <a:r>
              <a:rPr lang="en-US" sz="1100" dirty="0">
                <a:solidFill>
                  <a:srgbClr val="5B6573"/>
                </a:solidFill>
              </a:rPr>
              <a:t>chooses the steps</a:t>
            </a:r>
            <a:endParaRPr lang="en-US" sz="2200" dirty="0"/>
          </a:p>
        </p:txBody>
      </p:sp>
      <p:sp>
        <p:nvSpPr>
          <p:cNvPr id="5" name="arrow 1"/>
          <p:cNvSpPr/>
          <p:nvPr/>
        </p:nvSpPr>
        <p:spPr>
          <a:xfrm>
            <a:off x="2057400" y="2327148"/>
            <a:ext cx="100584" cy="146304"/>
          </a:xfrm>
          <a:prstGeom prst="rtTriangle">
            <a:avLst/>
          </a:prstGeom>
          <a:solidFill>
            <a:schemeClr val="accent5"/>
          </a:solidFill>
          <a:ln/>
        </p:spPr>
      </p:sp>
      <p:sp>
        <p:nvSpPr>
          <p:cNvPr id="6" name="step 2 box"/>
          <p:cNvSpPr/>
          <p:nvPr/>
        </p:nvSpPr>
        <p:spPr>
          <a:xfrm>
            <a:off x="2185416" y="1600200"/>
            <a:ext cx="1481328" cy="1600200"/>
          </a:xfrm>
          <a:prstGeom prst="roundRect">
            <a:avLst>
              <a:gd name="adj" fmla="val 4938"/>
            </a:avLst>
          </a:prstGeom>
          <a:solidFill>
            <a:schemeClr val="bg2"/>
          </a:solidFill>
          <a:ln/>
        </p:spPr>
      </p:sp>
      <p:sp>
        <p:nvSpPr>
          <p:cNvPr id="7" name="step 2 text"/>
          <p:cNvSpPr txBox="1"/>
          <p:nvPr/>
        </p:nvSpPr>
        <p:spPr>
          <a:xfrm>
            <a:off x="2295144"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2</a:t>
            </a:r>
            <a:endParaRPr lang="en-US" sz="2200" dirty="0"/>
          </a:p>
          <a:p>
            <a:pPr marL="0" indent="0">
              <a:buNone/>
            </a:pPr>
            <a:r>
              <a:rPr lang="en-US" sz="1600" b="1" dirty="0">
                <a:solidFill>
                  <a:srgbClr val="141414"/>
                </a:solidFill>
              </a:rPr>
              <a:t>Research</a:t>
            </a:r>
            <a:endParaRPr lang="en-US" sz="2200" dirty="0"/>
          </a:p>
          <a:p>
            <a:pPr marL="0" indent="0">
              <a:buNone/>
            </a:pPr>
            <a:r>
              <a:rPr lang="en-US" sz="1100" dirty="0">
                <a:solidFill>
                  <a:srgbClr val="5B6573"/>
                </a:solidFill>
              </a:rPr>
              <a:t>section anchors + 6 aspect queries (+ LLM query expansion)</a:t>
            </a:r>
            <a:endParaRPr lang="en-US" sz="2200" dirty="0"/>
          </a:p>
        </p:txBody>
      </p:sp>
      <p:sp>
        <p:nvSpPr>
          <p:cNvPr id="8" name="arrow 2"/>
          <p:cNvSpPr/>
          <p:nvPr/>
        </p:nvSpPr>
        <p:spPr>
          <a:xfrm>
            <a:off x="3694176" y="2327148"/>
            <a:ext cx="100584" cy="146304"/>
          </a:xfrm>
          <a:prstGeom prst="rtTriangle">
            <a:avLst/>
          </a:prstGeom>
          <a:solidFill>
            <a:schemeClr val="accent5"/>
          </a:solidFill>
          <a:ln/>
        </p:spPr>
      </p:sp>
      <p:sp>
        <p:nvSpPr>
          <p:cNvPr id="9" name="step 3 box"/>
          <p:cNvSpPr/>
          <p:nvPr/>
        </p:nvSpPr>
        <p:spPr>
          <a:xfrm>
            <a:off x="3822192" y="1600200"/>
            <a:ext cx="1481328" cy="1600200"/>
          </a:xfrm>
          <a:prstGeom prst="roundRect">
            <a:avLst>
              <a:gd name="adj" fmla="val 4938"/>
            </a:avLst>
          </a:prstGeom>
          <a:solidFill>
            <a:schemeClr val="bg2"/>
          </a:solidFill>
          <a:ln/>
        </p:spPr>
      </p:sp>
      <p:sp>
        <p:nvSpPr>
          <p:cNvPr id="10" name="step 3 text"/>
          <p:cNvSpPr txBox="1"/>
          <p:nvPr/>
        </p:nvSpPr>
        <p:spPr>
          <a:xfrm>
            <a:off x="3931920"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3</a:t>
            </a:r>
            <a:endParaRPr lang="en-US" sz="2200" dirty="0"/>
          </a:p>
          <a:p>
            <a:pPr marL="0" indent="0">
              <a:buNone/>
            </a:pPr>
            <a:r>
              <a:rPr lang="en-US" sz="1600" b="1" dirty="0">
                <a:solidFill>
                  <a:srgbClr val="141414"/>
                </a:solidFill>
              </a:rPr>
              <a:t>Summarize</a:t>
            </a:r>
            <a:endParaRPr lang="en-US" sz="2200" dirty="0"/>
          </a:p>
          <a:p>
            <a:pPr marL="0" indent="0">
              <a:buNone/>
            </a:pPr>
            <a:r>
              <a:rPr lang="en-US" sz="1100" dirty="0">
                <a:solidFill>
                  <a:srgbClr val="5B6573"/>
                </a:solidFill>
              </a:rPr>
              <a:t>8 headings, every bullet cited</a:t>
            </a:r>
            <a:endParaRPr lang="en-US" sz="2200" dirty="0"/>
          </a:p>
        </p:txBody>
      </p:sp>
      <p:sp>
        <p:nvSpPr>
          <p:cNvPr id="11" name="arrow 3"/>
          <p:cNvSpPr/>
          <p:nvPr/>
        </p:nvSpPr>
        <p:spPr>
          <a:xfrm>
            <a:off x="5330952" y="2327148"/>
            <a:ext cx="100584" cy="146304"/>
          </a:xfrm>
          <a:prstGeom prst="rtTriangle">
            <a:avLst/>
          </a:prstGeom>
          <a:solidFill>
            <a:schemeClr val="accent5"/>
          </a:solidFill>
          <a:ln/>
        </p:spPr>
      </p:sp>
      <p:sp>
        <p:nvSpPr>
          <p:cNvPr id="12" name="step 4 box"/>
          <p:cNvSpPr/>
          <p:nvPr/>
        </p:nvSpPr>
        <p:spPr>
          <a:xfrm>
            <a:off x="5458968" y="1600200"/>
            <a:ext cx="1481328" cy="1600200"/>
          </a:xfrm>
          <a:prstGeom prst="roundRect">
            <a:avLst>
              <a:gd name="adj" fmla="val 4938"/>
            </a:avLst>
          </a:prstGeom>
          <a:solidFill>
            <a:schemeClr val="accent1"/>
          </a:solidFill>
          <a:ln/>
        </p:spPr>
      </p:sp>
      <p:sp>
        <p:nvSpPr>
          <p:cNvPr id="13" name="step 4 text"/>
          <p:cNvSpPr txBox="1"/>
          <p:nvPr/>
        </p:nvSpPr>
        <p:spPr>
          <a:xfrm>
            <a:off x="5568696" y="1691640"/>
            <a:ext cx="1261872" cy="1417320"/>
          </a:xfrm>
          <a:prstGeom prst="rect">
            <a:avLst/>
          </a:prstGeom>
          <a:noFill/>
          <a:ln/>
        </p:spPr>
        <p:txBody>
          <a:bodyPr wrap="square" lIns="0" tIns="0" rIns="0" bIns="0" rtlCol="0" anchor="t"/>
          <a:lstStyle/>
          <a:p>
            <a:pPr marL="0" indent="0">
              <a:buNone/>
            </a:pPr>
            <a:r>
              <a:rPr lang="en-US" sz="2200" b="1" dirty="0">
                <a:solidFill>
                  <a:srgbClr val="FFFFFF"/>
                </a:solidFill>
              </a:rPr>
              <a:t>4</a:t>
            </a:r>
            <a:endParaRPr lang="en-US" sz="2200" dirty="0"/>
          </a:p>
          <a:p>
            <a:pPr marL="0" indent="0">
              <a:buNone/>
            </a:pPr>
            <a:r>
              <a:rPr lang="en-US" sz="1600" b="1" dirty="0">
                <a:solidFill>
                  <a:srgbClr val="FFFFFF"/>
                </a:solidFill>
              </a:rPr>
              <a:t>Review</a:t>
            </a:r>
            <a:endParaRPr lang="en-US" sz="2200" dirty="0"/>
          </a:p>
          <a:p>
            <a:pPr marL="0" indent="0">
              <a:buNone/>
            </a:pPr>
            <a:r>
              <a:rPr lang="en-US" sz="1100" dirty="0">
                <a:solidFill>
                  <a:srgbClr val="FFFFFF"/>
                </a:solidFill>
              </a:rPr>
              <a:t>coverage · grounding · faithfulness</a:t>
            </a:r>
            <a:endParaRPr lang="en-US" sz="2200" dirty="0"/>
          </a:p>
        </p:txBody>
      </p:sp>
      <p:sp>
        <p:nvSpPr>
          <p:cNvPr id="14" name="arrow 4"/>
          <p:cNvSpPr/>
          <p:nvPr/>
        </p:nvSpPr>
        <p:spPr>
          <a:xfrm>
            <a:off x="6967728" y="2327148"/>
            <a:ext cx="100584" cy="146304"/>
          </a:xfrm>
          <a:prstGeom prst="rtTriangle">
            <a:avLst/>
          </a:prstGeom>
          <a:solidFill>
            <a:schemeClr val="accent5"/>
          </a:solidFill>
          <a:ln/>
        </p:spPr>
      </p:sp>
      <p:sp>
        <p:nvSpPr>
          <p:cNvPr id="15" name="step 5 box"/>
          <p:cNvSpPr/>
          <p:nvPr/>
        </p:nvSpPr>
        <p:spPr>
          <a:xfrm>
            <a:off x="7095744" y="1600200"/>
            <a:ext cx="1481328" cy="1600200"/>
          </a:xfrm>
          <a:prstGeom prst="roundRect">
            <a:avLst>
              <a:gd name="adj" fmla="val 4938"/>
            </a:avLst>
          </a:prstGeom>
          <a:solidFill>
            <a:schemeClr val="bg2"/>
          </a:solidFill>
          <a:ln/>
        </p:spPr>
      </p:sp>
      <p:sp>
        <p:nvSpPr>
          <p:cNvPr id="16" name="step 5 text"/>
          <p:cNvSpPr txBox="1"/>
          <p:nvPr/>
        </p:nvSpPr>
        <p:spPr>
          <a:xfrm>
            <a:off x="7205472"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5</a:t>
            </a:r>
            <a:endParaRPr lang="en-US" sz="2200" dirty="0"/>
          </a:p>
          <a:p>
            <a:pPr marL="0" indent="0">
              <a:buNone/>
            </a:pPr>
            <a:r>
              <a:rPr lang="en-US" sz="1600" b="1" dirty="0">
                <a:solidFill>
                  <a:srgbClr val="141414"/>
                </a:solidFill>
              </a:rPr>
              <a:t>Analyze</a:t>
            </a:r>
            <a:endParaRPr lang="en-US" sz="2200" dirty="0"/>
          </a:p>
          <a:p>
            <a:pPr marL="0" indent="0">
              <a:buNone/>
            </a:pPr>
            <a:r>
              <a:rPr lang="en-US" sz="1100" dirty="0">
                <a:solidFill>
                  <a:srgbClr val="5B6573"/>
                </a:solidFill>
              </a:rPr>
              <a:t>strengths, weaknesses, tone</a:t>
            </a:r>
            <a:endParaRPr lang="en-US" sz="2200" dirty="0"/>
          </a:p>
        </p:txBody>
      </p:sp>
      <p:sp>
        <p:nvSpPr>
          <p:cNvPr id="17" name="arrow 5"/>
          <p:cNvSpPr/>
          <p:nvPr/>
        </p:nvSpPr>
        <p:spPr>
          <a:xfrm>
            <a:off x="8604504" y="2327148"/>
            <a:ext cx="100584" cy="146304"/>
          </a:xfrm>
          <a:prstGeom prst="rtTriangle">
            <a:avLst/>
          </a:prstGeom>
          <a:solidFill>
            <a:schemeClr val="accent5"/>
          </a:solidFill>
          <a:ln/>
        </p:spPr>
      </p:sp>
      <p:sp>
        <p:nvSpPr>
          <p:cNvPr id="18" name="step 6 box"/>
          <p:cNvSpPr/>
          <p:nvPr/>
        </p:nvSpPr>
        <p:spPr>
          <a:xfrm>
            <a:off x="8732520" y="1600200"/>
            <a:ext cx="1481328" cy="1600200"/>
          </a:xfrm>
          <a:prstGeom prst="roundRect">
            <a:avLst>
              <a:gd name="adj" fmla="val 4938"/>
            </a:avLst>
          </a:prstGeom>
          <a:solidFill>
            <a:schemeClr val="bg2"/>
          </a:solidFill>
          <a:ln/>
        </p:spPr>
      </p:sp>
      <p:sp>
        <p:nvSpPr>
          <p:cNvPr id="19" name="step 6 text"/>
          <p:cNvSpPr txBox="1"/>
          <p:nvPr/>
        </p:nvSpPr>
        <p:spPr>
          <a:xfrm>
            <a:off x="8842248"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6</a:t>
            </a:r>
            <a:endParaRPr lang="en-US" sz="2200" dirty="0"/>
          </a:p>
          <a:p>
            <a:pPr marL="0" indent="0">
              <a:buNone/>
            </a:pPr>
            <a:r>
              <a:rPr lang="en-US" sz="1600" b="1" dirty="0">
                <a:solidFill>
                  <a:srgbClr val="141414"/>
                </a:solidFill>
              </a:rPr>
              <a:t>Compare</a:t>
            </a:r>
            <a:endParaRPr lang="en-US" sz="2200" dirty="0"/>
          </a:p>
          <a:p>
            <a:pPr marL="0" indent="0">
              <a:buNone/>
            </a:pPr>
            <a:r>
              <a:rPr lang="en-US" sz="1100" dirty="0">
                <a:solidFill>
                  <a:srgbClr val="5B6573"/>
                </a:solidFill>
              </a:rPr>
              <a:t>only with 2+ papers</a:t>
            </a:r>
            <a:endParaRPr lang="en-US" sz="2200" dirty="0"/>
          </a:p>
        </p:txBody>
      </p:sp>
      <p:sp>
        <p:nvSpPr>
          <p:cNvPr id="20" name="arrow 6"/>
          <p:cNvSpPr/>
          <p:nvPr/>
        </p:nvSpPr>
        <p:spPr>
          <a:xfrm>
            <a:off x="10241280" y="2327148"/>
            <a:ext cx="100584" cy="146304"/>
          </a:xfrm>
          <a:prstGeom prst="rtTriangle">
            <a:avLst/>
          </a:prstGeom>
          <a:solidFill>
            <a:schemeClr val="accent5"/>
          </a:solidFill>
          <a:ln/>
        </p:spPr>
      </p:sp>
      <p:sp>
        <p:nvSpPr>
          <p:cNvPr id="21" name="step 7 box"/>
          <p:cNvSpPr/>
          <p:nvPr/>
        </p:nvSpPr>
        <p:spPr>
          <a:xfrm>
            <a:off x="10369296" y="1600200"/>
            <a:ext cx="1481328" cy="1600200"/>
          </a:xfrm>
          <a:prstGeom prst="roundRect">
            <a:avLst>
              <a:gd name="adj" fmla="val 4938"/>
            </a:avLst>
          </a:prstGeom>
          <a:solidFill>
            <a:schemeClr val="bg2"/>
          </a:solidFill>
          <a:ln/>
        </p:spPr>
      </p:sp>
      <p:sp>
        <p:nvSpPr>
          <p:cNvPr id="22" name="step 7 text"/>
          <p:cNvSpPr txBox="1"/>
          <p:nvPr/>
        </p:nvSpPr>
        <p:spPr>
          <a:xfrm>
            <a:off x="10479024" y="1691640"/>
            <a:ext cx="1261872" cy="1417320"/>
          </a:xfrm>
          <a:prstGeom prst="rect">
            <a:avLst/>
          </a:prstGeom>
          <a:noFill/>
          <a:ln/>
        </p:spPr>
        <p:txBody>
          <a:bodyPr wrap="square" lIns="0" tIns="0" rIns="0" bIns="0" rtlCol="0" anchor="t"/>
          <a:lstStyle/>
          <a:p>
            <a:pPr marL="0" indent="0">
              <a:buNone/>
            </a:pPr>
            <a:r>
              <a:rPr lang="en-US" sz="2200" b="1" dirty="0">
                <a:solidFill>
                  <a:srgbClr val="E0242C"/>
                </a:solidFill>
              </a:rPr>
              <a:t>7</a:t>
            </a:r>
            <a:endParaRPr lang="en-US" sz="2200" dirty="0"/>
          </a:p>
          <a:p>
            <a:pPr marL="0" indent="0">
              <a:buNone/>
            </a:pPr>
            <a:r>
              <a:rPr lang="en-US" sz="1600" b="1" dirty="0">
                <a:solidFill>
                  <a:srgbClr val="141414"/>
                </a:solidFill>
              </a:rPr>
              <a:t>Report</a:t>
            </a:r>
            <a:endParaRPr lang="en-US" sz="2200" dirty="0"/>
          </a:p>
          <a:p>
            <a:pPr marL="0" indent="0">
              <a:buNone/>
            </a:pPr>
            <a:r>
              <a:rPr lang="en-US" sz="1100" dirty="0">
                <a:solidFill>
                  <a:srgbClr val="5B6573"/>
                </a:solidFill>
              </a:rPr>
              <a:t>brief + recommendations</a:t>
            </a:r>
            <a:endParaRPr lang="en-US" sz="2200" dirty="0"/>
          </a:p>
        </p:txBody>
      </p:sp>
      <p:sp>
        <p:nvSpPr>
          <p:cNvPr id="23" name="loop up"/>
          <p:cNvSpPr/>
          <p:nvPr/>
        </p:nvSpPr>
        <p:spPr>
          <a:xfrm>
            <a:off x="4562856" y="3200400"/>
            <a:ext cx="0" cy="365760"/>
          </a:xfrm>
          <a:prstGeom prst="line">
            <a:avLst/>
          </a:prstGeom>
          <a:noFill/>
          <a:ln w="25400">
            <a:solidFill>
              <a:srgbClr val="E0242C"/>
            </a:solidFill>
            <a:prstDash val="solid"/>
            <a:headEnd type="triangle"/>
          </a:ln>
        </p:spPr>
      </p:sp>
      <p:sp>
        <p:nvSpPr>
          <p:cNvPr id="24" name="loop across"/>
          <p:cNvSpPr/>
          <p:nvPr/>
        </p:nvSpPr>
        <p:spPr>
          <a:xfrm>
            <a:off x="4562856" y="3566160"/>
            <a:ext cx="1636776" cy="0"/>
          </a:xfrm>
          <a:prstGeom prst="line">
            <a:avLst/>
          </a:prstGeom>
          <a:noFill/>
          <a:ln w="25400">
            <a:solidFill>
              <a:srgbClr val="E0242C"/>
            </a:solidFill>
            <a:prstDash val="solid"/>
          </a:ln>
        </p:spPr>
      </p:sp>
      <p:sp>
        <p:nvSpPr>
          <p:cNvPr id="25" name="loop down"/>
          <p:cNvSpPr/>
          <p:nvPr/>
        </p:nvSpPr>
        <p:spPr>
          <a:xfrm>
            <a:off x="6199632" y="3200400"/>
            <a:ext cx="0" cy="365760"/>
          </a:xfrm>
          <a:prstGeom prst="line">
            <a:avLst/>
          </a:prstGeom>
          <a:noFill/>
          <a:ln w="25400">
            <a:solidFill>
              <a:srgbClr val="E0242C"/>
            </a:solidFill>
            <a:prstDash val="solid"/>
          </a:ln>
        </p:spPr>
      </p:sp>
      <p:sp>
        <p:nvSpPr>
          <p:cNvPr id="26" name="loop label"/>
          <p:cNvSpPr txBox="1"/>
          <p:nvPr/>
        </p:nvSpPr>
        <p:spPr>
          <a:xfrm>
            <a:off x="4105656" y="3611880"/>
            <a:ext cx="4754880" cy="320040"/>
          </a:xfrm>
          <a:prstGeom prst="rect">
            <a:avLst/>
          </a:prstGeom>
          <a:noFill/>
          <a:ln/>
        </p:spPr>
        <p:txBody>
          <a:bodyPr wrap="square" lIns="0" tIns="0" rIns="0" bIns="0" rtlCol="0" anchor="ctr"/>
          <a:lstStyle/>
          <a:p>
            <a:pPr marL="0" indent="0">
              <a:buNone/>
            </a:pPr>
            <a:r>
              <a:rPr lang="en-US" sz="1200" i="1" dirty="0">
                <a:solidFill>
                  <a:schemeClr val="accent1"/>
                </a:solidFill>
              </a:rPr>
              <a:t>revise with written feedback (bounded by MAX_REFLECTION_LOOPS)</a:t>
            </a:r>
            <a:endParaRPr lang="en-US" sz="1200" dirty="0"/>
          </a:p>
        </p:txBody>
      </p:sp>
      <p:sp>
        <p:nvSpPr>
          <p:cNvPr id="27" name="review rule card"/>
          <p:cNvSpPr/>
          <p:nvPr/>
        </p:nvSpPr>
        <p:spPr>
          <a:xfrm>
            <a:off x="548640" y="4480560"/>
            <a:ext cx="11094415" cy="1645920"/>
          </a:xfrm>
          <a:prstGeom prst="roundRect">
            <a:avLst>
              <a:gd name="adj" fmla="val 4444"/>
            </a:avLst>
          </a:prstGeom>
          <a:solidFill>
            <a:schemeClr val="tx2"/>
          </a:solidFill>
          <a:ln/>
        </p:spPr>
      </p:sp>
      <p:sp>
        <p:nvSpPr>
          <p:cNvPr id="28" name="review rule text"/>
          <p:cNvSpPr txBox="1"/>
          <p:nvPr/>
        </p:nvSpPr>
        <p:spPr>
          <a:xfrm>
            <a:off x="914400" y="4480560"/>
            <a:ext cx="10362895" cy="1645920"/>
          </a:xfrm>
          <a:prstGeom prst="rect">
            <a:avLst/>
          </a:prstGeom>
          <a:noFill/>
          <a:ln/>
        </p:spPr>
        <p:txBody>
          <a:bodyPr wrap="square" lIns="0" tIns="0" rIns="0" bIns="0" rtlCol="0" anchor="ctr"/>
          <a:lstStyle/>
          <a:p>
            <a:pPr marL="0" indent="0">
              <a:spcAft>
                <a:spcPts val="400"/>
              </a:spcAft>
              <a:buNone/>
            </a:pPr>
            <a:r>
              <a:rPr lang="en-US" sz="1600" b="1" dirty="0">
                <a:solidFill>
                  <a:srgbClr val="FDECEC"/>
                </a:solidFill>
              </a:rPr>
              <a:t>Reviewer rule</a:t>
            </a:r>
            <a:endParaRPr lang="en-US" sz="1600" dirty="0"/>
          </a:p>
          <a:p>
            <a:pPr marL="0" indent="0">
              <a:spcAft>
                <a:spcPts val="400"/>
              </a:spcAft>
              <a:buNone/>
            </a:pPr>
            <a:r>
              <a:rPr lang="en-US" sz="1900" b="1" dirty="0">
                <a:solidFill>
                  <a:srgbClr val="FFFFFF"/>
                </a:solidFill>
                <a:latin typeface="Courier New" pitchFamily="34" charset="0"/>
                <a:ea typeface="Courier New" pitchFamily="34" charset="-122"/>
                <a:cs typeface="Courier New" pitchFamily="34" charset="-120"/>
              </a:rPr>
              <a:t>score = 0.40 × coverage + 0.35 × grounding + 0.25 × faithfulness</a:t>
            </a:r>
            <a:endParaRPr lang="en-US" sz="1600" dirty="0"/>
          </a:p>
          <a:p>
            <a:pPr marL="0" indent="0">
              <a:spcAft>
                <a:spcPts val="400"/>
              </a:spcAft>
              <a:buNone/>
            </a:pPr>
            <a:r>
              <a:rPr lang="en-US" sz="1500" dirty="0">
                <a:solidFill>
                  <a:srgbClr val="FFFFFF"/>
                </a:solidFill>
              </a:rPr>
              <a:t>Pass only if score ≥ 0.70 AND every number in the summary appears in the source evidence.</a:t>
            </a:r>
            <a:endParaRPr lang="en-US" sz="16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Implementation details</a:t>
            </a:r>
            <a:endParaRPr lang="en-US" sz="3200" dirty="0"/>
          </a:p>
        </p:txBody>
      </p:sp>
      <p:sp>
        <p:nvSpPr>
          <p:cNvPr id="3" name="impl card 1"/>
          <p:cNvSpPr/>
          <p:nvPr/>
        </p:nvSpPr>
        <p:spPr>
          <a:xfrm>
            <a:off x="548640" y="1371600"/>
            <a:ext cx="5440680" cy="2194560"/>
          </a:xfrm>
          <a:prstGeom prst="roundRect">
            <a:avLst>
              <a:gd name="adj" fmla="val 3333"/>
            </a:avLst>
          </a:prstGeom>
          <a:solidFill>
            <a:schemeClr val="bg2"/>
          </a:solidFill>
          <a:ln/>
        </p:spPr>
      </p:sp>
      <p:sp>
        <p:nvSpPr>
          <p:cNvPr id="4" name="impl 1 circle"/>
          <p:cNvSpPr/>
          <p:nvPr/>
        </p:nvSpPr>
        <p:spPr>
          <a:xfrm>
            <a:off x="822960" y="1645920"/>
            <a:ext cx="685800" cy="685800"/>
          </a:xfrm>
          <a:prstGeom prst="ellipse">
            <a:avLst/>
          </a:prstGeom>
          <a:solidFill>
            <a:schemeClr val="accent6"/>
          </a:solidFill>
          <a:ln/>
        </p:spPr>
      </p:sp>
      <p:pic>
        <p:nvPicPr>
          <p:cNvPr id="5" name="impl 1 icon" descr="impl 1"/>
          <p:cNvPicPr>
            <a:picLocks noChangeAspect="1"/>
          </p:cNvPicPr>
          <p:nvPr/>
        </p:nvPicPr>
        <p:blipFill>
          <a:blip r:embed="rId3"/>
          <a:stretch>
            <a:fillRect/>
          </a:stretch>
        </p:blipFill>
        <p:spPr>
          <a:xfrm>
            <a:off x="994410" y="1817370"/>
            <a:ext cx="342900" cy="342900"/>
          </a:xfrm>
          <a:prstGeom prst="rect">
            <a:avLst/>
          </a:prstGeom>
        </p:spPr>
      </p:pic>
      <p:sp>
        <p:nvSpPr>
          <p:cNvPr id="6" name="impl 1 title"/>
          <p:cNvSpPr txBox="1"/>
          <p:nvPr/>
        </p:nvSpPr>
        <p:spPr>
          <a:xfrm>
            <a:off x="1691640" y="1645920"/>
            <a:ext cx="4023360" cy="685800"/>
          </a:xfrm>
          <a:prstGeom prst="rect">
            <a:avLst/>
          </a:prstGeom>
          <a:noFill/>
          <a:ln/>
        </p:spPr>
        <p:txBody>
          <a:bodyPr wrap="square" lIns="0" tIns="0" rIns="0" bIns="0" rtlCol="0" anchor="ctr"/>
          <a:lstStyle/>
          <a:p>
            <a:pPr marL="0" indent="0">
              <a:buNone/>
            </a:pPr>
            <a:r>
              <a:rPr lang="en-US" sz="1800" b="1" dirty="0">
                <a:solidFill>
                  <a:schemeClr val="tx1"/>
                </a:solidFill>
              </a:rPr>
              <a:t>Section-aware chunking</a:t>
            </a:r>
            <a:endParaRPr lang="en-US" sz="1800" dirty="0"/>
          </a:p>
        </p:txBody>
      </p:sp>
      <p:sp>
        <p:nvSpPr>
          <p:cNvPr id="7" name="impl 1 text"/>
          <p:cNvSpPr txBox="1"/>
          <p:nvPr/>
        </p:nvSpPr>
        <p:spPr>
          <a:xfrm>
            <a:off x="822960" y="2423160"/>
            <a:ext cx="4892040" cy="1051560"/>
          </a:xfrm>
          <a:prstGeom prst="rect">
            <a:avLst/>
          </a:prstGeom>
          <a:noFill/>
          <a:ln/>
        </p:spPr>
        <p:txBody>
          <a:bodyPr wrap="square" lIns="0" tIns="0" rIns="0" bIns="0" rtlCol="0" anchor="t"/>
          <a:lstStyle/>
          <a:p>
            <a:pPr marL="0" indent="0">
              <a:buNone/>
            </a:pPr>
            <a:r>
              <a:rPr lang="en-US" sz="1400" dirty="0">
                <a:solidFill>
                  <a:schemeClr val="tx1"/>
                </a:solidFill>
              </a:rPr>
              <a:t>1,000-char chunks, 150 overlap. Each chunk stores file, page, its section and every heading inside it, plus a stable chunk ID — the basis for citations and section filters.</a:t>
            </a:r>
            <a:endParaRPr lang="en-US" sz="1400" dirty="0"/>
          </a:p>
        </p:txBody>
      </p:sp>
      <p:sp>
        <p:nvSpPr>
          <p:cNvPr id="8" name="impl card 2"/>
          <p:cNvSpPr/>
          <p:nvPr/>
        </p:nvSpPr>
        <p:spPr>
          <a:xfrm>
            <a:off x="6172200" y="1371600"/>
            <a:ext cx="5440680" cy="2194560"/>
          </a:xfrm>
          <a:prstGeom prst="roundRect">
            <a:avLst>
              <a:gd name="adj" fmla="val 3333"/>
            </a:avLst>
          </a:prstGeom>
          <a:solidFill>
            <a:schemeClr val="bg2"/>
          </a:solidFill>
          <a:ln/>
        </p:spPr>
      </p:sp>
      <p:sp>
        <p:nvSpPr>
          <p:cNvPr id="9" name="impl 2 circle"/>
          <p:cNvSpPr/>
          <p:nvPr/>
        </p:nvSpPr>
        <p:spPr>
          <a:xfrm>
            <a:off x="6446520" y="1645920"/>
            <a:ext cx="685800" cy="685800"/>
          </a:xfrm>
          <a:prstGeom prst="ellipse">
            <a:avLst/>
          </a:prstGeom>
          <a:solidFill>
            <a:schemeClr val="accent6"/>
          </a:solidFill>
          <a:ln/>
        </p:spPr>
      </p:sp>
      <p:pic>
        <p:nvPicPr>
          <p:cNvPr id="10" name="impl 2 icon" descr="impl 2"/>
          <p:cNvPicPr>
            <a:picLocks noChangeAspect="1"/>
          </p:cNvPicPr>
          <p:nvPr/>
        </p:nvPicPr>
        <p:blipFill>
          <a:blip r:embed="rId4"/>
          <a:stretch>
            <a:fillRect/>
          </a:stretch>
        </p:blipFill>
        <p:spPr>
          <a:xfrm>
            <a:off x="6617970" y="1817370"/>
            <a:ext cx="342900" cy="342900"/>
          </a:xfrm>
          <a:prstGeom prst="rect">
            <a:avLst/>
          </a:prstGeom>
        </p:spPr>
      </p:pic>
      <p:sp>
        <p:nvSpPr>
          <p:cNvPr id="11" name="impl 2 title"/>
          <p:cNvSpPr txBox="1"/>
          <p:nvPr/>
        </p:nvSpPr>
        <p:spPr>
          <a:xfrm>
            <a:off x="7315200" y="1645920"/>
            <a:ext cx="4023360" cy="685800"/>
          </a:xfrm>
          <a:prstGeom prst="rect">
            <a:avLst/>
          </a:prstGeom>
          <a:noFill/>
          <a:ln/>
        </p:spPr>
        <p:txBody>
          <a:bodyPr wrap="square" lIns="0" tIns="0" rIns="0" bIns="0" rtlCol="0" anchor="ctr"/>
          <a:lstStyle/>
          <a:p>
            <a:pPr marL="0" indent="0">
              <a:buNone/>
            </a:pPr>
            <a:r>
              <a:rPr lang="en-US" sz="1800" b="1" dirty="0">
                <a:solidFill>
                  <a:schemeClr val="tx1"/>
                </a:solidFill>
              </a:rPr>
              <a:t>Retrieval with citation tags</a:t>
            </a:r>
            <a:endParaRPr lang="en-US" sz="1800" dirty="0"/>
          </a:p>
        </p:txBody>
      </p:sp>
      <p:sp>
        <p:nvSpPr>
          <p:cNvPr id="12" name="impl 2 text"/>
          <p:cNvSpPr txBox="1"/>
          <p:nvPr/>
        </p:nvSpPr>
        <p:spPr>
          <a:xfrm>
            <a:off x="6446520" y="2423160"/>
            <a:ext cx="4892040" cy="1051560"/>
          </a:xfrm>
          <a:prstGeom prst="rect">
            <a:avLst/>
          </a:prstGeom>
          <a:noFill/>
          <a:ln/>
        </p:spPr>
        <p:txBody>
          <a:bodyPr wrap="square" lIns="0" tIns="0" rIns="0" bIns="0" rtlCol="0" anchor="t"/>
          <a:lstStyle/>
          <a:p>
            <a:pPr marL="0" indent="0">
              <a:buNone/>
            </a:pPr>
            <a:r>
              <a:rPr lang="en-US" sz="1400" dirty="0">
                <a:solidFill>
                  <a:schemeClr val="tx1"/>
                </a:solidFill>
              </a:rPr>
              <a:t>MMR (fetch 4×k, λ = 0.6), per-paper filter, multi-query de-duplication. Evidence is formatted as [S1] (file, p.N, Section); the abstract is always [S0].</a:t>
            </a:r>
            <a:endParaRPr lang="en-US" sz="1400" dirty="0"/>
          </a:p>
        </p:txBody>
      </p:sp>
      <p:sp>
        <p:nvSpPr>
          <p:cNvPr id="13" name="impl card 3"/>
          <p:cNvSpPr/>
          <p:nvPr/>
        </p:nvSpPr>
        <p:spPr>
          <a:xfrm>
            <a:off x="548640" y="3749040"/>
            <a:ext cx="5440680" cy="2194560"/>
          </a:xfrm>
          <a:prstGeom prst="roundRect">
            <a:avLst>
              <a:gd name="adj" fmla="val 3333"/>
            </a:avLst>
          </a:prstGeom>
          <a:solidFill>
            <a:schemeClr val="bg2"/>
          </a:solidFill>
          <a:ln/>
        </p:spPr>
      </p:sp>
      <p:sp>
        <p:nvSpPr>
          <p:cNvPr id="14" name="impl 3 circle"/>
          <p:cNvSpPr/>
          <p:nvPr/>
        </p:nvSpPr>
        <p:spPr>
          <a:xfrm>
            <a:off x="822960" y="4023360"/>
            <a:ext cx="685800" cy="685800"/>
          </a:xfrm>
          <a:prstGeom prst="ellipse">
            <a:avLst/>
          </a:prstGeom>
          <a:solidFill>
            <a:schemeClr val="accent6"/>
          </a:solidFill>
          <a:ln/>
        </p:spPr>
      </p:sp>
      <p:pic>
        <p:nvPicPr>
          <p:cNvPr id="15" name="impl 3 icon" descr="impl 3"/>
          <p:cNvPicPr>
            <a:picLocks noChangeAspect="1"/>
          </p:cNvPicPr>
          <p:nvPr/>
        </p:nvPicPr>
        <p:blipFill>
          <a:blip r:embed="rId5"/>
          <a:stretch>
            <a:fillRect/>
          </a:stretch>
        </p:blipFill>
        <p:spPr>
          <a:xfrm>
            <a:off x="994410" y="4194810"/>
            <a:ext cx="342900" cy="342900"/>
          </a:xfrm>
          <a:prstGeom prst="rect">
            <a:avLst/>
          </a:prstGeom>
        </p:spPr>
      </p:pic>
      <p:sp>
        <p:nvSpPr>
          <p:cNvPr id="16" name="impl 3 title"/>
          <p:cNvSpPr txBox="1"/>
          <p:nvPr/>
        </p:nvSpPr>
        <p:spPr>
          <a:xfrm>
            <a:off x="1691640" y="4023360"/>
            <a:ext cx="4023360" cy="685800"/>
          </a:xfrm>
          <a:prstGeom prst="rect">
            <a:avLst/>
          </a:prstGeom>
          <a:noFill/>
          <a:ln/>
        </p:spPr>
        <p:txBody>
          <a:bodyPr wrap="square" lIns="0" tIns="0" rIns="0" bIns="0" rtlCol="0" anchor="ctr"/>
          <a:lstStyle/>
          <a:p>
            <a:pPr marL="0" indent="0">
              <a:buNone/>
            </a:pPr>
            <a:r>
              <a:rPr lang="en-US" sz="1800" b="1" dirty="0">
                <a:solidFill>
                  <a:schemeClr val="tx1"/>
                </a:solidFill>
              </a:rPr>
              <a:t>Offline extractive model</a:t>
            </a:r>
            <a:endParaRPr lang="en-US" sz="1800" dirty="0"/>
          </a:p>
        </p:txBody>
      </p:sp>
      <p:sp>
        <p:nvSpPr>
          <p:cNvPr id="17" name="impl 3 text"/>
          <p:cNvSpPr txBox="1"/>
          <p:nvPr/>
        </p:nvSpPr>
        <p:spPr>
          <a:xfrm>
            <a:off x="822960" y="4800600"/>
            <a:ext cx="4892040" cy="1051560"/>
          </a:xfrm>
          <a:prstGeom prst="rect">
            <a:avLst/>
          </a:prstGeom>
          <a:noFill/>
          <a:ln/>
        </p:spPr>
        <p:txBody>
          <a:bodyPr wrap="square" lIns="0" tIns="0" rIns="0" bIns="0" rtlCol="0" anchor="t"/>
          <a:lstStyle/>
          <a:p>
            <a:pPr marL="0" indent="0">
              <a:buNone/>
            </a:pPr>
            <a:r>
              <a:rPr lang="en-US" sz="1400" dirty="0">
                <a:solidFill>
                  <a:schemeClr val="tx1"/>
                </a:solidFill>
              </a:rPr>
              <a:t>A LangChain chat model that reads the prompt's headings and context, and picks sentences by TF-IDF centrality, cue words and section match — citations preserved.</a:t>
            </a:r>
            <a:endParaRPr lang="en-US" sz="1400" dirty="0"/>
          </a:p>
        </p:txBody>
      </p:sp>
      <p:sp>
        <p:nvSpPr>
          <p:cNvPr id="18" name="impl card 4"/>
          <p:cNvSpPr/>
          <p:nvPr/>
        </p:nvSpPr>
        <p:spPr>
          <a:xfrm>
            <a:off x="6172200" y="3749040"/>
            <a:ext cx="5440680" cy="2194560"/>
          </a:xfrm>
          <a:prstGeom prst="roundRect">
            <a:avLst>
              <a:gd name="adj" fmla="val 3333"/>
            </a:avLst>
          </a:prstGeom>
          <a:solidFill>
            <a:schemeClr val="bg2"/>
          </a:solidFill>
          <a:ln/>
        </p:spPr>
      </p:sp>
      <p:sp>
        <p:nvSpPr>
          <p:cNvPr id="19" name="impl 4 circle"/>
          <p:cNvSpPr/>
          <p:nvPr/>
        </p:nvSpPr>
        <p:spPr>
          <a:xfrm>
            <a:off x="6446520" y="4023360"/>
            <a:ext cx="685800" cy="685800"/>
          </a:xfrm>
          <a:prstGeom prst="ellipse">
            <a:avLst/>
          </a:prstGeom>
          <a:solidFill>
            <a:schemeClr val="accent6"/>
          </a:solidFill>
          <a:ln/>
        </p:spPr>
      </p:sp>
      <p:pic>
        <p:nvPicPr>
          <p:cNvPr id="20" name="impl 4 icon" descr="impl 4"/>
          <p:cNvPicPr>
            <a:picLocks noChangeAspect="1"/>
          </p:cNvPicPr>
          <p:nvPr/>
        </p:nvPicPr>
        <p:blipFill>
          <a:blip r:embed="rId6"/>
          <a:stretch>
            <a:fillRect/>
          </a:stretch>
        </p:blipFill>
        <p:spPr>
          <a:xfrm>
            <a:off x="6617970" y="4194810"/>
            <a:ext cx="342900" cy="342900"/>
          </a:xfrm>
          <a:prstGeom prst="rect">
            <a:avLst/>
          </a:prstGeom>
        </p:spPr>
      </p:pic>
      <p:sp>
        <p:nvSpPr>
          <p:cNvPr id="21" name="impl 4 title"/>
          <p:cNvSpPr txBox="1"/>
          <p:nvPr/>
        </p:nvSpPr>
        <p:spPr>
          <a:xfrm>
            <a:off x="7315200" y="4023360"/>
            <a:ext cx="4023360" cy="685800"/>
          </a:xfrm>
          <a:prstGeom prst="rect">
            <a:avLst/>
          </a:prstGeom>
          <a:noFill/>
          <a:ln/>
        </p:spPr>
        <p:txBody>
          <a:bodyPr wrap="square" lIns="0" tIns="0" rIns="0" bIns="0" rtlCol="0" anchor="ctr"/>
          <a:lstStyle/>
          <a:p>
            <a:pPr marL="0" indent="0">
              <a:buNone/>
            </a:pPr>
            <a:r>
              <a:rPr lang="en-US" sz="1800" b="1" dirty="0">
                <a:solidFill>
                  <a:schemeClr val="tx1"/>
                </a:solidFill>
              </a:rPr>
              <a:t>Resilience</a:t>
            </a:r>
            <a:endParaRPr lang="en-US" sz="1800" dirty="0"/>
          </a:p>
        </p:txBody>
      </p:sp>
      <p:sp>
        <p:nvSpPr>
          <p:cNvPr id="22" name="impl 4 text"/>
          <p:cNvSpPr txBox="1"/>
          <p:nvPr/>
        </p:nvSpPr>
        <p:spPr>
          <a:xfrm>
            <a:off x="6446520" y="4800600"/>
            <a:ext cx="4892040" cy="1051560"/>
          </a:xfrm>
          <a:prstGeom prst="rect">
            <a:avLst/>
          </a:prstGeom>
          <a:noFill/>
          <a:ln/>
        </p:spPr>
        <p:txBody>
          <a:bodyPr wrap="square" lIns="0" tIns="0" rIns="0" bIns="0" rtlCol="0" anchor="t"/>
          <a:lstStyle/>
          <a:p>
            <a:pPr marL="0" indent="0">
              <a:buNone/>
            </a:pPr>
            <a:r>
              <a:rPr lang="en-US" sz="1400" dirty="0">
                <a:solidFill>
                  <a:schemeClr val="tx1"/>
                </a:solidFill>
              </a:rPr>
              <a:t>Embedding fallback, retries with back-off, no retry on bad keys, plain-English errors, FAISS cache by content hash, SQLite LLM cache, rotating logs.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Demo: the running application</a:t>
            </a:r>
            <a:endParaRPr lang="en-US" sz="3200" dirty="0"/>
          </a:p>
        </p:txBody>
      </p:sp>
      <p:pic>
        <p:nvPicPr>
          <p:cNvPr id="3" name="screenshot 1" descr="Home — seven agents as episodes"/>
          <p:cNvPicPr>
            <a:picLocks noChangeAspect="1"/>
          </p:cNvPicPr>
          <p:nvPr/>
        </p:nvPicPr>
        <p:blipFill>
          <a:blip r:embed="rId3"/>
          <a:stretch>
            <a:fillRect/>
          </a:stretch>
        </p:blipFill>
        <p:spPr>
          <a:xfrm>
            <a:off x="548640" y="1463040"/>
            <a:ext cx="2633472" cy="1645920"/>
          </a:xfrm>
          <a:prstGeom prst="rect">
            <a:avLst/>
          </a:prstGeom>
          <a:effectLst>
            <a:outerShdw blurRad="76200" dist="25400" dir="5400000" algn="bl" rotWithShape="0">
              <a:srgbClr val="000000">
                <a:alpha val="12000"/>
              </a:srgbClr>
            </a:outerShdw>
          </a:effectLst>
        </p:spPr>
      </p:pic>
      <p:sp>
        <p:nvSpPr>
          <p:cNvPr id="4" name="screenshot 1 caption"/>
          <p:cNvSpPr txBox="1"/>
          <p:nvPr/>
        </p:nvSpPr>
        <p:spPr>
          <a:xfrm>
            <a:off x="548640" y="3200400"/>
            <a:ext cx="2633472" cy="502920"/>
          </a:xfrm>
          <a:prstGeom prst="rect">
            <a:avLst/>
          </a:prstGeom>
          <a:noFill/>
          <a:ln/>
        </p:spPr>
        <p:txBody>
          <a:bodyPr wrap="square" lIns="0" tIns="0" rIns="0" bIns="0" rtlCol="0" anchor="t"/>
          <a:lstStyle/>
          <a:p>
            <a:pPr marL="0" indent="0">
              <a:buNone/>
            </a:pPr>
            <a:r>
              <a:rPr lang="en-US" sz="1300" dirty="0">
                <a:solidFill>
                  <a:schemeClr val="tx1"/>
                </a:solidFill>
              </a:rPr>
              <a:t>Home — seven agents as episodes</a:t>
            </a:r>
            <a:endParaRPr lang="en-US" sz="1300" dirty="0"/>
          </a:p>
        </p:txBody>
      </p:sp>
      <p:pic>
        <p:nvPicPr>
          <p:cNvPr id="5" name="screenshot 2" descr="Cited summary + Reviewer scores"/>
          <p:cNvPicPr>
            <a:picLocks noChangeAspect="1"/>
          </p:cNvPicPr>
          <p:nvPr/>
        </p:nvPicPr>
        <p:blipFill>
          <a:blip r:embed="rId4"/>
          <a:stretch>
            <a:fillRect/>
          </a:stretch>
        </p:blipFill>
        <p:spPr>
          <a:xfrm>
            <a:off x="3358591" y="1463040"/>
            <a:ext cx="2633472" cy="1645920"/>
          </a:xfrm>
          <a:prstGeom prst="rect">
            <a:avLst/>
          </a:prstGeom>
          <a:effectLst>
            <a:outerShdw blurRad="76200" dist="25400" dir="5400000" algn="bl" rotWithShape="0">
              <a:srgbClr val="000000">
                <a:alpha val="12000"/>
              </a:srgbClr>
            </a:outerShdw>
          </a:effectLst>
        </p:spPr>
      </p:pic>
      <p:sp>
        <p:nvSpPr>
          <p:cNvPr id="6" name="screenshot 2 caption"/>
          <p:cNvSpPr txBox="1"/>
          <p:nvPr/>
        </p:nvSpPr>
        <p:spPr>
          <a:xfrm>
            <a:off x="3358591" y="3200400"/>
            <a:ext cx="2633472" cy="502920"/>
          </a:xfrm>
          <a:prstGeom prst="rect">
            <a:avLst/>
          </a:prstGeom>
          <a:noFill/>
          <a:ln/>
        </p:spPr>
        <p:txBody>
          <a:bodyPr wrap="square" lIns="0" tIns="0" rIns="0" bIns="0" rtlCol="0" anchor="t"/>
          <a:lstStyle/>
          <a:p>
            <a:pPr marL="0" indent="0">
              <a:buNone/>
            </a:pPr>
            <a:r>
              <a:rPr lang="en-US" sz="1300" dirty="0">
                <a:solidFill>
                  <a:schemeClr val="tx1"/>
                </a:solidFill>
              </a:rPr>
              <a:t>Cited summary + Reviewer scores</a:t>
            </a:r>
            <a:endParaRPr lang="en-US" sz="1300" dirty="0"/>
          </a:p>
        </p:txBody>
      </p:sp>
      <p:pic>
        <p:nvPicPr>
          <p:cNvPr id="7" name="screenshot 3" descr="Chat — intent and paper detected"/>
          <p:cNvPicPr>
            <a:picLocks noChangeAspect="1"/>
          </p:cNvPicPr>
          <p:nvPr/>
        </p:nvPicPr>
        <p:blipFill>
          <a:blip r:embed="rId5"/>
          <a:stretch>
            <a:fillRect/>
          </a:stretch>
        </p:blipFill>
        <p:spPr>
          <a:xfrm>
            <a:off x="6168542" y="1463040"/>
            <a:ext cx="2633472" cy="1645920"/>
          </a:xfrm>
          <a:prstGeom prst="rect">
            <a:avLst/>
          </a:prstGeom>
          <a:effectLst>
            <a:outerShdw blurRad="76200" dist="25400" dir="5400000" algn="bl" rotWithShape="0">
              <a:srgbClr val="000000">
                <a:alpha val="12000"/>
              </a:srgbClr>
            </a:outerShdw>
          </a:effectLst>
        </p:spPr>
      </p:pic>
      <p:sp>
        <p:nvSpPr>
          <p:cNvPr id="8" name="screenshot 3 caption"/>
          <p:cNvSpPr txBox="1"/>
          <p:nvPr/>
        </p:nvSpPr>
        <p:spPr>
          <a:xfrm>
            <a:off x="6168542" y="3200400"/>
            <a:ext cx="2633472" cy="502920"/>
          </a:xfrm>
          <a:prstGeom prst="rect">
            <a:avLst/>
          </a:prstGeom>
          <a:noFill/>
          <a:ln/>
        </p:spPr>
        <p:txBody>
          <a:bodyPr wrap="square" lIns="0" tIns="0" rIns="0" bIns="0" rtlCol="0" anchor="t"/>
          <a:lstStyle/>
          <a:p>
            <a:pPr marL="0" indent="0">
              <a:buNone/>
            </a:pPr>
            <a:r>
              <a:rPr lang="en-US" sz="1300" dirty="0">
                <a:solidFill>
                  <a:schemeClr val="tx1"/>
                </a:solidFill>
              </a:rPr>
              <a:t>Chat — intent and paper detected</a:t>
            </a:r>
            <a:endParaRPr lang="en-US" sz="1300" dirty="0"/>
          </a:p>
        </p:txBody>
      </p:sp>
      <p:pic>
        <p:nvPicPr>
          <p:cNvPr id="9" name="screenshot 4" descr="Agent trace with timings"/>
          <p:cNvPicPr>
            <a:picLocks noChangeAspect="1"/>
          </p:cNvPicPr>
          <p:nvPr/>
        </p:nvPicPr>
        <p:blipFill>
          <a:blip r:embed="rId6"/>
          <a:stretch>
            <a:fillRect/>
          </a:stretch>
        </p:blipFill>
        <p:spPr>
          <a:xfrm>
            <a:off x="8978494" y="1463040"/>
            <a:ext cx="2633472" cy="1645920"/>
          </a:xfrm>
          <a:prstGeom prst="rect">
            <a:avLst/>
          </a:prstGeom>
          <a:effectLst>
            <a:outerShdw blurRad="76200" dist="25400" dir="5400000" algn="bl" rotWithShape="0">
              <a:srgbClr val="000000">
                <a:alpha val="12000"/>
              </a:srgbClr>
            </a:outerShdw>
          </a:effectLst>
        </p:spPr>
      </p:pic>
      <p:sp>
        <p:nvSpPr>
          <p:cNvPr id="10" name="screenshot 4 caption"/>
          <p:cNvSpPr txBox="1"/>
          <p:nvPr/>
        </p:nvSpPr>
        <p:spPr>
          <a:xfrm>
            <a:off x="8978494" y="3200400"/>
            <a:ext cx="2633472" cy="502920"/>
          </a:xfrm>
          <a:prstGeom prst="rect">
            <a:avLst/>
          </a:prstGeom>
          <a:noFill/>
          <a:ln/>
        </p:spPr>
        <p:txBody>
          <a:bodyPr wrap="square" lIns="0" tIns="0" rIns="0" bIns="0" rtlCol="0" anchor="t"/>
          <a:lstStyle/>
          <a:p>
            <a:pPr marL="0" indent="0">
              <a:buNone/>
            </a:pPr>
            <a:r>
              <a:rPr lang="en-US" sz="1300" dirty="0">
                <a:solidFill>
                  <a:schemeClr val="tx1"/>
                </a:solidFill>
              </a:rPr>
              <a:t>Agent trace with timings</a:t>
            </a:r>
            <a:endParaRPr lang="en-US" sz="1300" dirty="0"/>
          </a:p>
        </p:txBody>
      </p:sp>
      <p:sp>
        <p:nvSpPr>
          <p:cNvPr id="11" name="demo script card"/>
          <p:cNvSpPr/>
          <p:nvPr/>
        </p:nvSpPr>
        <p:spPr>
          <a:xfrm>
            <a:off x="548640" y="4160520"/>
            <a:ext cx="11094415" cy="1874520"/>
          </a:xfrm>
          <a:prstGeom prst="roundRect">
            <a:avLst>
              <a:gd name="adj" fmla="val 3902"/>
            </a:avLst>
          </a:prstGeom>
          <a:solidFill>
            <a:schemeClr val="bg2"/>
          </a:solidFill>
          <a:ln/>
        </p:spPr>
      </p:sp>
      <p:sp>
        <p:nvSpPr>
          <p:cNvPr id="12" name="demo script"/>
          <p:cNvSpPr txBox="1"/>
          <p:nvPr/>
        </p:nvSpPr>
        <p:spPr>
          <a:xfrm>
            <a:off x="868680" y="4206240"/>
            <a:ext cx="10454335" cy="1783080"/>
          </a:xfrm>
          <a:prstGeom prst="rect">
            <a:avLst/>
          </a:prstGeom>
          <a:noFill/>
          <a:ln/>
        </p:spPr>
        <p:txBody>
          <a:bodyPr wrap="square" lIns="0" tIns="0" rIns="0" bIns="0" rtlCol="0" anchor="ctr"/>
          <a:lstStyle/>
          <a:p>
            <a:pPr marL="0" indent="0">
              <a:spcAft>
                <a:spcPts val="400"/>
              </a:spcAft>
              <a:buNone/>
            </a:pPr>
            <a:r>
              <a:rPr lang="en-US" sz="1600" b="1" dirty="0">
                <a:solidFill>
                  <a:schemeClr val="tx1"/>
                </a:solidFill>
              </a:rPr>
              <a:t>Live demo script (≈ 3 min)</a:t>
            </a:r>
            <a:endParaRPr lang="en-US" sz="1400" dirty="0"/>
          </a:p>
          <a:p>
            <a:pPr marL="342900" indent="-342900">
              <a:spcAft>
                <a:spcPts val="400"/>
              </a:spcAft>
              <a:buSzPct val="100000"/>
              <a:buFont typeface="+mj-lt"/>
              <a:buAutoNum type="arabicPeriod"/>
            </a:pPr>
            <a:r>
              <a:rPr lang="en-US" sz="1400" dirty="0">
                <a:solidFill>
                  <a:schemeClr val="tx1"/>
                </a:solidFill>
              </a:rPr>
              <a:t>Click ▶ Play with sample papers and watch the 7 episode cards fill in</a:t>
            </a:r>
            <a:endParaRPr lang="en-US" sz="1400" dirty="0"/>
          </a:p>
          <a:p>
            <a:pPr marL="342900" indent="-342900">
              <a:spcAft>
                <a:spcPts val="400"/>
              </a:spcAft>
              <a:buSzPct val="100000"/>
              <a:buFont typeface="+mj-lt"/>
              <a:buAutoNum type="arabicPeriod"/>
            </a:pPr>
            <a:r>
              <a:rPr lang="en-US" sz="1400" dirty="0">
                <a:solidFill>
                  <a:schemeClr val="tx1"/>
                </a:solidFill>
              </a:rPr>
              <a:t>Summaries tab: point at a red [S2] tag, open Sources behind this summary</a:t>
            </a:r>
            <a:endParaRPr lang="en-US" sz="1400" dirty="0"/>
          </a:p>
          <a:p>
            <a:pPr marL="342900" indent="-342900">
              <a:spcAft>
                <a:spcPts val="400"/>
              </a:spcAft>
              <a:buSzPct val="100000"/>
              <a:buFont typeface="+mj-lt"/>
              <a:buAutoNum type="arabicPeriod"/>
            </a:pPr>
            <a:r>
              <a:rPr lang="en-US" sz="1400" dirty="0">
                <a:solidFill>
                  <a:schemeClr val="tx1"/>
                </a:solidFill>
              </a:rPr>
              <a:t>Ask the papers: “What dataset was used in HiRAG?” → intent data, paper HiRAG, cited answer</a:t>
            </a:r>
            <a:endParaRPr lang="en-US" sz="1400" dirty="0"/>
          </a:p>
          <a:p>
            <a:pPr marL="342900" indent="-342900">
              <a:spcAft>
                <a:spcPts val="400"/>
              </a:spcAft>
              <a:buSzPct val="100000"/>
              <a:buFont typeface="+mj-lt"/>
              <a:buAutoNum type="arabicPeriod"/>
            </a:pPr>
            <a:r>
              <a:rPr lang="en-US" sz="1400" dirty="0">
                <a:solidFill>
                  <a:schemeClr val="tx1"/>
                </a:solidFill>
              </a:rPr>
              <a:t>Report tab: download the PDF brief; Agent trace: show every step and its time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Testing &amp; evaluation</a:t>
            </a:r>
            <a:endParaRPr lang="en-US" sz="3200" dirty="0"/>
          </a:p>
        </p:txBody>
      </p:sp>
      <p:graphicFrame>
        <p:nvGraphicFramePr>
          <p:cNvPr id="10" name="test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4279392"/>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3A5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was checked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3A5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End-to-end pipeline</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2 sample papers, both embedding back-ends: ingest → 7 agents → report</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All steps complete; 4 pages, 948 words, 9 chunks</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Metadata extraction</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Title, authors, section headings for each paper</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Correct for both papers; 7 sections each</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Hallucination guard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Summary tampered with a fake figure (99.9%) and a fake tag [S9]</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Score 0.923 but FAILED — both issues reported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Reflection loop</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Impossible threshold (1.01), max 2 revisions</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Exactly 2 revisions, then continued — no infinite loop</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Chat routing</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5 questions: data, limitations, comparison, authors, create</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5 / 5 correct intent; paper detected when named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Export</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PDF, DOCX and Markdown generation</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All 3 generated (≈17 KB, 40 KB, 16 KB)</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Resilience</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Embedding model download blocked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Automatic fallback to HashingEmbeddings; run completed</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Deployment</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streamlit run + health check; UI driven by a headless browser</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marL="0" indent="0">
                        <a:buNone/>
                      </a:pPr>
                      <a:r>
                        <a:rPr lang="en-US" sz="1300" dirty="0">
                          <a:solidFill>
                            <a:srgbClr val="141414"/>
                          </a:solidFill>
                          <a:latin typeface="Calibri" pitchFamily="34" charset="0"/>
                          <a:ea typeface="Calibri" pitchFamily="34" charset="-122"/>
                          <a:cs typeface="Calibri" pitchFamily="34" charset="-120"/>
                        </a:rPr>
                        <a:t>App healthy; screenshots captured from the live UI</a:t>
                      </a:r>
                      <a:endParaRPr lang="en-US" sz="1300" dirty="0">
                        <a:latin typeface="Calibri" charset="0"/>
                        <a:ea typeface="Calibri" charset="0"/>
                        <a:cs typeface="Calibri" charset="0"/>
                      </a:endParaRPr>
                    </a:p>
                  </a:txBody>
                  <a:tcPr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Results</a:t>
            </a:r>
            <a:endParaRPr lang="en-US" sz="3200" dirty="0"/>
          </a:p>
        </p:txBody>
      </p:sp>
      <p:sp>
        <p:nvSpPr>
          <p:cNvPr id="3" name="stat 1 value"/>
          <p:cNvSpPr txBox="1"/>
          <p:nvPr/>
        </p:nvSpPr>
        <p:spPr>
          <a:xfrm>
            <a:off x="548640" y="1371600"/>
            <a:ext cx="1828800" cy="1005840"/>
          </a:xfrm>
          <a:prstGeom prst="rect">
            <a:avLst/>
          </a:prstGeom>
          <a:noFill/>
          <a:ln/>
        </p:spPr>
        <p:txBody>
          <a:bodyPr wrap="square" lIns="0" tIns="0" rIns="0" bIns="0" rtlCol="0" anchor="ctr"/>
          <a:lstStyle/>
          <a:p>
            <a:pPr marL="0" indent="0">
              <a:buNone/>
            </a:pPr>
            <a:r>
              <a:rPr lang="en-US" sz="4000" b="1" dirty="0">
                <a:solidFill>
                  <a:schemeClr val="accent1"/>
                </a:solidFill>
              </a:rPr>
              <a:t>7 / 7</a:t>
            </a:r>
            <a:endParaRPr lang="en-US" sz="4000" dirty="0"/>
          </a:p>
        </p:txBody>
      </p:sp>
      <p:sp>
        <p:nvSpPr>
          <p:cNvPr id="4" name="stat 1 label"/>
          <p:cNvSpPr txBox="1"/>
          <p:nvPr/>
        </p:nvSpPr>
        <p:spPr>
          <a:xfrm>
            <a:off x="2468880" y="1371600"/>
            <a:ext cx="2377440" cy="1005840"/>
          </a:xfrm>
          <a:prstGeom prst="rect">
            <a:avLst/>
          </a:prstGeom>
          <a:noFill/>
          <a:ln/>
        </p:spPr>
        <p:txBody>
          <a:bodyPr wrap="square" lIns="0" tIns="0" rIns="0" bIns="0" rtlCol="0" anchor="ctr"/>
          <a:lstStyle/>
          <a:p>
            <a:pPr marL="0" indent="0">
              <a:buNone/>
            </a:pPr>
            <a:r>
              <a:rPr lang="en-US" sz="1500" dirty="0">
                <a:solidFill>
                  <a:schemeClr val="tx1"/>
                </a:solidFill>
              </a:rPr>
              <a:t>agent steps completed</a:t>
            </a:r>
            <a:endParaRPr lang="en-US" sz="1500" dirty="0"/>
          </a:p>
        </p:txBody>
      </p:sp>
      <p:sp>
        <p:nvSpPr>
          <p:cNvPr id="5" name="stat 2 value"/>
          <p:cNvSpPr txBox="1"/>
          <p:nvPr/>
        </p:nvSpPr>
        <p:spPr>
          <a:xfrm>
            <a:off x="548640" y="2560320"/>
            <a:ext cx="1828800" cy="1005840"/>
          </a:xfrm>
          <a:prstGeom prst="rect">
            <a:avLst/>
          </a:prstGeom>
          <a:noFill/>
          <a:ln/>
        </p:spPr>
        <p:txBody>
          <a:bodyPr wrap="square" lIns="0" tIns="0" rIns="0" bIns="0" rtlCol="0" anchor="ctr"/>
          <a:lstStyle/>
          <a:p>
            <a:pPr marL="0" indent="0">
              <a:buNone/>
            </a:pPr>
            <a:r>
              <a:rPr lang="en-US" sz="4000" b="1" dirty="0">
                <a:solidFill>
                  <a:schemeClr val="accent1"/>
                </a:solidFill>
              </a:rPr>
              <a:t>1.00</a:t>
            </a:r>
            <a:endParaRPr lang="en-US" sz="4000" dirty="0"/>
          </a:p>
        </p:txBody>
      </p:sp>
      <p:sp>
        <p:nvSpPr>
          <p:cNvPr id="6" name="stat 2 label"/>
          <p:cNvSpPr txBox="1"/>
          <p:nvPr/>
        </p:nvSpPr>
        <p:spPr>
          <a:xfrm>
            <a:off x="2468880" y="2560320"/>
            <a:ext cx="2377440" cy="1005840"/>
          </a:xfrm>
          <a:prstGeom prst="rect">
            <a:avLst/>
          </a:prstGeom>
          <a:noFill/>
          <a:ln/>
        </p:spPr>
        <p:txBody>
          <a:bodyPr wrap="square" lIns="0" tIns="0" rIns="0" bIns="0" rtlCol="0" anchor="ctr"/>
          <a:lstStyle/>
          <a:p>
            <a:pPr marL="0" indent="0">
              <a:buNone/>
            </a:pPr>
            <a:r>
              <a:rPr lang="en-US" sz="1500" dirty="0">
                <a:solidFill>
                  <a:schemeClr val="tx1"/>
                </a:solidFill>
              </a:rPr>
              <a:t>Reviewer score, both papers</a:t>
            </a:r>
            <a:endParaRPr lang="en-US" sz="1500" dirty="0"/>
          </a:p>
        </p:txBody>
      </p:sp>
      <p:sp>
        <p:nvSpPr>
          <p:cNvPr id="7" name="stat 3 value"/>
          <p:cNvSpPr txBox="1"/>
          <p:nvPr/>
        </p:nvSpPr>
        <p:spPr>
          <a:xfrm>
            <a:off x="548640" y="3749040"/>
            <a:ext cx="1828800" cy="1005840"/>
          </a:xfrm>
          <a:prstGeom prst="rect">
            <a:avLst/>
          </a:prstGeom>
          <a:noFill/>
          <a:ln/>
        </p:spPr>
        <p:txBody>
          <a:bodyPr wrap="square" lIns="0" tIns="0" rIns="0" bIns="0" rtlCol="0" anchor="ctr"/>
          <a:lstStyle/>
          <a:p>
            <a:pPr marL="0" indent="0">
              <a:buNone/>
            </a:pPr>
            <a:r>
              <a:rPr lang="en-US" sz="4000" b="1" dirty="0">
                <a:solidFill>
                  <a:schemeClr val="accent1"/>
                </a:solidFill>
              </a:rPr>
              <a:t>5 / 5</a:t>
            </a:r>
            <a:endParaRPr lang="en-US" sz="4000" dirty="0"/>
          </a:p>
        </p:txBody>
      </p:sp>
      <p:sp>
        <p:nvSpPr>
          <p:cNvPr id="8" name="stat 3 label"/>
          <p:cNvSpPr txBox="1"/>
          <p:nvPr/>
        </p:nvSpPr>
        <p:spPr>
          <a:xfrm>
            <a:off x="2468880" y="3749040"/>
            <a:ext cx="2377440" cy="1005840"/>
          </a:xfrm>
          <a:prstGeom prst="rect">
            <a:avLst/>
          </a:prstGeom>
          <a:noFill/>
          <a:ln/>
        </p:spPr>
        <p:txBody>
          <a:bodyPr wrap="square" lIns="0" tIns="0" rIns="0" bIns="0" rtlCol="0" anchor="ctr"/>
          <a:lstStyle/>
          <a:p>
            <a:pPr marL="0" indent="0">
              <a:buNone/>
            </a:pPr>
            <a:r>
              <a:rPr lang="en-US" sz="1500" dirty="0">
                <a:solidFill>
                  <a:schemeClr val="tx1"/>
                </a:solidFill>
              </a:rPr>
              <a:t>chat questions routed correctly</a:t>
            </a:r>
            <a:endParaRPr lang="en-US" sz="1500" dirty="0"/>
          </a:p>
        </p:txBody>
      </p:sp>
      <p:sp>
        <p:nvSpPr>
          <p:cNvPr id="9" name="stat 4 value"/>
          <p:cNvSpPr txBox="1"/>
          <p:nvPr/>
        </p:nvSpPr>
        <p:spPr>
          <a:xfrm>
            <a:off x="548640" y="4937760"/>
            <a:ext cx="1828800" cy="1005840"/>
          </a:xfrm>
          <a:prstGeom prst="rect">
            <a:avLst/>
          </a:prstGeom>
          <a:noFill/>
          <a:ln/>
        </p:spPr>
        <p:txBody>
          <a:bodyPr wrap="square" lIns="0" tIns="0" rIns="0" bIns="0" rtlCol="0" anchor="ctr"/>
          <a:lstStyle/>
          <a:p>
            <a:pPr marL="0" indent="0">
              <a:buNone/>
            </a:pPr>
            <a:r>
              <a:rPr lang="en-US" sz="4000" b="1" dirty="0">
                <a:solidFill>
                  <a:schemeClr val="accent1"/>
                </a:solidFill>
              </a:rPr>
              <a:t>3</a:t>
            </a:r>
            <a:endParaRPr lang="en-US" sz="4000" dirty="0"/>
          </a:p>
        </p:txBody>
      </p:sp>
      <p:sp>
        <p:nvSpPr>
          <p:cNvPr id="10" name="stat 4 label"/>
          <p:cNvSpPr txBox="1"/>
          <p:nvPr/>
        </p:nvSpPr>
        <p:spPr>
          <a:xfrm>
            <a:off x="2468880" y="4937760"/>
            <a:ext cx="2377440" cy="1005840"/>
          </a:xfrm>
          <a:prstGeom prst="rect">
            <a:avLst/>
          </a:prstGeom>
          <a:noFill/>
          <a:ln/>
        </p:spPr>
        <p:txBody>
          <a:bodyPr wrap="square" lIns="0" tIns="0" rIns="0" bIns="0" rtlCol="0" anchor="ctr"/>
          <a:lstStyle/>
          <a:p>
            <a:pPr marL="0" indent="0">
              <a:buNone/>
            </a:pPr>
            <a:r>
              <a:rPr lang="en-US" sz="1500" dirty="0">
                <a:solidFill>
                  <a:schemeClr val="tx1"/>
                </a:solidFill>
              </a:rPr>
              <a:t>report formats exported</a:t>
            </a:r>
            <a:endParaRPr lang="en-US" sz="1500" dirty="0"/>
          </a:p>
        </p:txBody>
      </p:sp>
      <p:graphicFrame>
        <p:nvGraphicFramePr>
          <p:cNvPr id="11" name="reviewer chart"/>
          <p:cNvGraphicFramePr/>
          <p:nvPr/>
        </p:nvGraphicFramePr>
        <p:xfrm>
          <a:off x="5120640" y="1325880"/>
          <a:ext cx="64922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sults caveat"/>
          <p:cNvSpPr/>
          <p:nvPr/>
        </p:nvSpPr>
        <p:spPr>
          <a:xfrm>
            <a:off x="5120640" y="5486400"/>
            <a:ext cx="6492240" cy="777240"/>
          </a:xfrm>
          <a:prstGeom prst="roundRect">
            <a:avLst>
              <a:gd name="adj" fmla="val 9412"/>
            </a:avLst>
          </a:prstGeom>
          <a:solidFill>
            <a:schemeClr val="accent6"/>
          </a:solidFill>
          <a:ln/>
        </p:spPr>
      </p:sp>
      <p:sp>
        <p:nvSpPr>
          <p:cNvPr id="13" name="results caveat text"/>
          <p:cNvSpPr txBox="1"/>
          <p:nvPr/>
        </p:nvSpPr>
        <p:spPr>
          <a:xfrm>
            <a:off x="5303520" y="5486400"/>
            <a:ext cx="6126480" cy="777240"/>
          </a:xfrm>
          <a:prstGeom prst="rect">
            <a:avLst/>
          </a:prstGeom>
          <a:noFill/>
          <a:ln/>
        </p:spPr>
        <p:txBody>
          <a:bodyPr wrap="square" lIns="0" tIns="0" rIns="0" bIns="0" rtlCol="0" anchor="ctr"/>
          <a:lstStyle/>
          <a:p>
            <a:pPr marL="0" indent="0">
              <a:buNone/>
            </a:pPr>
            <a:r>
              <a:rPr lang="en-US" sz="1250" dirty="0">
                <a:solidFill>
                  <a:schemeClr val="tx1"/>
                </a:solidFill>
              </a:rPr>
              <a:t>Offline scores are high by design (sentences are copied with their tags). The real proof is the tamper test: the guard fails a summary that the weighted score alone would pass.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Challenges encountered and how I solved them</a:t>
            </a:r>
            <a:endParaRPr lang="en-US" sz="3200" dirty="0"/>
          </a:p>
        </p:txBody>
      </p:sp>
      <p:sp>
        <p:nvSpPr>
          <p:cNvPr id="3" name="challenge 1 card"/>
          <p:cNvSpPr/>
          <p:nvPr/>
        </p:nvSpPr>
        <p:spPr>
          <a:xfrm>
            <a:off x="548640" y="1325880"/>
            <a:ext cx="11094415" cy="822960"/>
          </a:xfrm>
          <a:prstGeom prst="roundRect">
            <a:avLst>
              <a:gd name="adj" fmla="val 8889"/>
            </a:avLst>
          </a:prstGeom>
          <a:solidFill>
            <a:schemeClr val="bg2"/>
          </a:solidFill>
          <a:ln/>
        </p:spPr>
      </p:sp>
      <p:sp>
        <p:nvSpPr>
          <p:cNvPr id="4" name="challenge 1"/>
          <p:cNvSpPr txBox="1"/>
          <p:nvPr/>
        </p:nvSpPr>
        <p:spPr>
          <a:xfrm>
            <a:off x="822960" y="1325880"/>
            <a:ext cx="3566160" cy="822960"/>
          </a:xfrm>
          <a:prstGeom prst="rect">
            <a:avLst/>
          </a:prstGeom>
          <a:noFill/>
          <a:ln/>
        </p:spPr>
        <p:txBody>
          <a:bodyPr wrap="square" lIns="0" tIns="0" rIns="0" bIns="0" rtlCol="0" anchor="ctr"/>
          <a:lstStyle/>
          <a:p>
            <a:pPr marL="0" indent="0">
              <a:buNone/>
            </a:pPr>
            <a:r>
              <a:rPr lang="en-US" sz="1600" b="1" dirty="0">
                <a:solidFill>
                  <a:schemeClr val="tx1"/>
                </a:solidFill>
              </a:rPr>
              <a:t>Retrieval missed whole sections</a:t>
            </a:r>
            <a:endParaRPr lang="en-US" sz="1600" dirty="0"/>
          </a:p>
        </p:txBody>
      </p:sp>
      <p:sp>
        <p:nvSpPr>
          <p:cNvPr id="5" name="challenge 1 arrow"/>
          <p:cNvSpPr txBox="1"/>
          <p:nvPr/>
        </p:nvSpPr>
        <p:spPr>
          <a:xfrm>
            <a:off x="4434840" y="1325880"/>
            <a:ext cx="365760" cy="822960"/>
          </a:xfrm>
          <a:prstGeom prst="rect">
            <a:avLst/>
          </a:prstGeom>
          <a:noFill/>
          <a:ln/>
        </p:spPr>
        <p:txBody>
          <a:bodyPr wrap="square" lIns="0" tIns="0" rIns="0" bIns="0" rtlCol="0" anchor="ctr"/>
          <a:lstStyle/>
          <a:p>
            <a:pPr marL="0" indent="0">
              <a:buNone/>
            </a:pPr>
            <a:r>
              <a:rPr lang="en-US" sz="2000" b="1" dirty="0">
                <a:solidFill>
                  <a:schemeClr val="accent1"/>
                </a:solidFill>
              </a:rPr>
              <a:t>→</a:t>
            </a:r>
            <a:endParaRPr lang="en-US" sz="2000" dirty="0"/>
          </a:p>
        </p:txBody>
      </p:sp>
      <p:sp>
        <p:nvSpPr>
          <p:cNvPr id="6" name="challenge 1 solution"/>
          <p:cNvSpPr txBox="1"/>
          <p:nvPr/>
        </p:nvSpPr>
        <p:spPr>
          <a:xfrm>
            <a:off x="4892040" y="1325880"/>
            <a:ext cx="6492240" cy="822960"/>
          </a:xfrm>
          <a:prstGeom prst="rect">
            <a:avLst/>
          </a:prstGeom>
          <a:noFill/>
          <a:ln/>
        </p:spPr>
        <p:txBody>
          <a:bodyPr wrap="square" lIns="0" tIns="0" rIns="0" bIns="0" rtlCol="0" anchor="ctr"/>
          <a:lstStyle/>
          <a:p>
            <a:pPr marL="0" indent="0">
              <a:buNone/>
            </a:pPr>
            <a:r>
              <a:rPr lang="en-US" sz="1400" dirty="0">
                <a:solidFill>
                  <a:schemeClr val="tx1"/>
                </a:solidFill>
              </a:rPr>
              <a:t>Section metadata on every chunk + one anchor chunk per canonical section before MMR</a:t>
            </a:r>
            <a:endParaRPr lang="en-US" sz="1400" dirty="0"/>
          </a:p>
        </p:txBody>
      </p:sp>
      <p:sp>
        <p:nvSpPr>
          <p:cNvPr id="7" name="challenge 2 card"/>
          <p:cNvSpPr/>
          <p:nvPr/>
        </p:nvSpPr>
        <p:spPr>
          <a:xfrm>
            <a:off x="548640" y="2286000"/>
            <a:ext cx="11094415" cy="822960"/>
          </a:xfrm>
          <a:prstGeom prst="roundRect">
            <a:avLst>
              <a:gd name="adj" fmla="val 8889"/>
            </a:avLst>
          </a:prstGeom>
          <a:solidFill>
            <a:schemeClr val="bg1"/>
          </a:solidFill>
          <a:ln/>
        </p:spPr>
      </p:sp>
      <p:sp>
        <p:nvSpPr>
          <p:cNvPr id="8" name="challenge 2"/>
          <p:cNvSpPr txBox="1"/>
          <p:nvPr/>
        </p:nvSpPr>
        <p:spPr>
          <a:xfrm>
            <a:off x="822960" y="2286000"/>
            <a:ext cx="3566160" cy="822960"/>
          </a:xfrm>
          <a:prstGeom prst="rect">
            <a:avLst/>
          </a:prstGeom>
          <a:noFill/>
          <a:ln/>
        </p:spPr>
        <p:txBody>
          <a:bodyPr wrap="square" lIns="0" tIns="0" rIns="0" bIns="0" rtlCol="0" anchor="ctr"/>
          <a:lstStyle/>
          <a:p>
            <a:pPr marL="0" indent="0">
              <a:buNone/>
            </a:pPr>
            <a:r>
              <a:rPr lang="en-US" sz="1600" b="1" dirty="0">
                <a:solidFill>
                  <a:schemeClr val="tx1"/>
                </a:solidFill>
              </a:rPr>
              <a:t>Messy PDF text</a:t>
            </a:r>
            <a:endParaRPr lang="en-US" sz="1600" dirty="0"/>
          </a:p>
        </p:txBody>
      </p:sp>
      <p:sp>
        <p:nvSpPr>
          <p:cNvPr id="9" name="challenge 2 arrow"/>
          <p:cNvSpPr txBox="1"/>
          <p:nvPr/>
        </p:nvSpPr>
        <p:spPr>
          <a:xfrm>
            <a:off x="4434840" y="2286000"/>
            <a:ext cx="365760" cy="822960"/>
          </a:xfrm>
          <a:prstGeom prst="rect">
            <a:avLst/>
          </a:prstGeom>
          <a:noFill/>
          <a:ln/>
        </p:spPr>
        <p:txBody>
          <a:bodyPr wrap="square" lIns="0" tIns="0" rIns="0" bIns="0" rtlCol="0" anchor="ctr"/>
          <a:lstStyle/>
          <a:p>
            <a:pPr marL="0" indent="0">
              <a:buNone/>
            </a:pPr>
            <a:r>
              <a:rPr lang="en-US" sz="2000" b="1" dirty="0">
                <a:solidFill>
                  <a:schemeClr val="accent1"/>
                </a:solidFill>
              </a:rPr>
              <a:t>→</a:t>
            </a:r>
            <a:endParaRPr lang="en-US" sz="2000" dirty="0"/>
          </a:p>
        </p:txBody>
      </p:sp>
      <p:sp>
        <p:nvSpPr>
          <p:cNvPr id="10" name="challenge 2 solution"/>
          <p:cNvSpPr txBox="1"/>
          <p:nvPr/>
        </p:nvSpPr>
        <p:spPr>
          <a:xfrm>
            <a:off x="4892040" y="2286000"/>
            <a:ext cx="6492240" cy="822960"/>
          </a:xfrm>
          <a:prstGeom prst="rect">
            <a:avLst/>
          </a:prstGeom>
          <a:noFill/>
          <a:ln/>
        </p:spPr>
        <p:txBody>
          <a:bodyPr wrap="square" lIns="0" tIns="0" rIns="0" bIns="0" rtlCol="0" anchor="ctr"/>
          <a:lstStyle/>
          <a:p>
            <a:pPr marL="0" indent="0">
              <a:buNone/>
            </a:pPr>
            <a:r>
              <a:rPr lang="en-US" sz="1400" dirty="0">
                <a:solidFill>
                  <a:schemeClr val="tx1"/>
                </a:solidFill>
              </a:rPr>
              <a:t>Headings glued to sentences, hyphenated line breaks, author lines in the abstract — handled with targeted regexes and sentence filters</a:t>
            </a:r>
            <a:endParaRPr lang="en-US" sz="1400" dirty="0"/>
          </a:p>
        </p:txBody>
      </p:sp>
      <p:sp>
        <p:nvSpPr>
          <p:cNvPr id="11" name="challenge 3 card"/>
          <p:cNvSpPr/>
          <p:nvPr/>
        </p:nvSpPr>
        <p:spPr>
          <a:xfrm>
            <a:off x="548640" y="3246120"/>
            <a:ext cx="11094415" cy="822960"/>
          </a:xfrm>
          <a:prstGeom prst="roundRect">
            <a:avLst>
              <a:gd name="adj" fmla="val 8889"/>
            </a:avLst>
          </a:prstGeom>
          <a:solidFill>
            <a:schemeClr val="bg2"/>
          </a:solidFill>
          <a:ln/>
        </p:spPr>
      </p:sp>
      <p:sp>
        <p:nvSpPr>
          <p:cNvPr id="12" name="challenge 3"/>
          <p:cNvSpPr txBox="1"/>
          <p:nvPr/>
        </p:nvSpPr>
        <p:spPr>
          <a:xfrm>
            <a:off x="822960" y="3246120"/>
            <a:ext cx="3566160" cy="822960"/>
          </a:xfrm>
          <a:prstGeom prst="rect">
            <a:avLst/>
          </a:prstGeom>
          <a:noFill/>
          <a:ln/>
        </p:spPr>
        <p:txBody>
          <a:bodyPr wrap="square" lIns="0" tIns="0" rIns="0" bIns="0" rtlCol="0" anchor="ctr"/>
          <a:lstStyle/>
          <a:p>
            <a:pPr marL="0" indent="0">
              <a:buNone/>
            </a:pPr>
            <a:r>
              <a:rPr lang="en-US" sz="1600" b="1" dirty="0">
                <a:solidFill>
                  <a:schemeClr val="tx1"/>
                </a:solidFill>
              </a:rPr>
              <a:t>A useful offline mode</a:t>
            </a:r>
            <a:endParaRPr lang="en-US" sz="1600" dirty="0"/>
          </a:p>
        </p:txBody>
      </p:sp>
      <p:sp>
        <p:nvSpPr>
          <p:cNvPr id="13" name="challenge 3 arrow"/>
          <p:cNvSpPr txBox="1"/>
          <p:nvPr/>
        </p:nvSpPr>
        <p:spPr>
          <a:xfrm>
            <a:off x="4434840" y="3246120"/>
            <a:ext cx="365760" cy="822960"/>
          </a:xfrm>
          <a:prstGeom prst="rect">
            <a:avLst/>
          </a:prstGeom>
          <a:noFill/>
          <a:ln/>
        </p:spPr>
        <p:txBody>
          <a:bodyPr wrap="square" lIns="0" tIns="0" rIns="0" bIns="0" rtlCol="0" anchor="ctr"/>
          <a:lstStyle/>
          <a:p>
            <a:pPr marL="0" indent="0">
              <a:buNone/>
            </a:pPr>
            <a:r>
              <a:rPr lang="en-US" sz="2000" b="1" dirty="0">
                <a:solidFill>
                  <a:schemeClr val="accent1"/>
                </a:solidFill>
              </a:rPr>
              <a:t>→</a:t>
            </a:r>
            <a:endParaRPr lang="en-US" sz="2000" dirty="0"/>
          </a:p>
        </p:txBody>
      </p:sp>
      <p:sp>
        <p:nvSpPr>
          <p:cNvPr id="14" name="challenge 3 solution"/>
          <p:cNvSpPr txBox="1"/>
          <p:nvPr/>
        </p:nvSpPr>
        <p:spPr>
          <a:xfrm>
            <a:off x="4892040" y="3246120"/>
            <a:ext cx="6492240" cy="822960"/>
          </a:xfrm>
          <a:prstGeom prst="rect">
            <a:avLst/>
          </a:prstGeom>
          <a:noFill/>
          <a:ln/>
        </p:spPr>
        <p:txBody>
          <a:bodyPr wrap="square" lIns="0" tIns="0" rIns="0" bIns="0" rtlCol="0" anchor="ctr"/>
          <a:lstStyle/>
          <a:p>
            <a:pPr marL="0" indent="0">
              <a:buNone/>
            </a:pPr>
            <a:r>
              <a:rPr lang="en-US" sz="1400" dirty="0">
                <a:solidFill>
                  <a:schemeClr val="tx1"/>
                </a:solidFill>
              </a:rPr>
              <a:t>Custom chat model: cue words + section match; headings with the fewest candidate sentences choose first</a:t>
            </a:r>
            <a:endParaRPr lang="en-US" sz="1400" dirty="0"/>
          </a:p>
        </p:txBody>
      </p:sp>
      <p:sp>
        <p:nvSpPr>
          <p:cNvPr id="15" name="challenge 4 card"/>
          <p:cNvSpPr/>
          <p:nvPr/>
        </p:nvSpPr>
        <p:spPr>
          <a:xfrm>
            <a:off x="548640" y="4206240"/>
            <a:ext cx="11094415" cy="822960"/>
          </a:xfrm>
          <a:prstGeom prst="roundRect">
            <a:avLst>
              <a:gd name="adj" fmla="val 8889"/>
            </a:avLst>
          </a:prstGeom>
          <a:solidFill>
            <a:schemeClr val="bg1"/>
          </a:solidFill>
          <a:ln/>
        </p:spPr>
      </p:sp>
      <p:sp>
        <p:nvSpPr>
          <p:cNvPr id="16" name="challenge 4"/>
          <p:cNvSpPr txBox="1"/>
          <p:nvPr/>
        </p:nvSpPr>
        <p:spPr>
          <a:xfrm>
            <a:off x="822960" y="4206240"/>
            <a:ext cx="3566160" cy="822960"/>
          </a:xfrm>
          <a:prstGeom prst="rect">
            <a:avLst/>
          </a:prstGeom>
          <a:noFill/>
          <a:ln/>
        </p:spPr>
        <p:txBody>
          <a:bodyPr wrap="square" lIns="0" tIns="0" rIns="0" bIns="0" rtlCol="0" anchor="ctr"/>
          <a:lstStyle/>
          <a:p>
            <a:pPr marL="0" indent="0">
              <a:buNone/>
            </a:pPr>
            <a:r>
              <a:rPr lang="en-US" sz="1600" b="1" dirty="0">
                <a:solidFill>
                  <a:schemeClr val="tx1"/>
                </a:solidFill>
              </a:rPr>
              <a:t>Providers retire models</a:t>
            </a:r>
            <a:endParaRPr lang="en-US" sz="1600" dirty="0"/>
          </a:p>
        </p:txBody>
      </p:sp>
      <p:sp>
        <p:nvSpPr>
          <p:cNvPr id="17" name="challenge 4 arrow"/>
          <p:cNvSpPr txBox="1"/>
          <p:nvPr/>
        </p:nvSpPr>
        <p:spPr>
          <a:xfrm>
            <a:off x="4434840" y="4206240"/>
            <a:ext cx="365760" cy="822960"/>
          </a:xfrm>
          <a:prstGeom prst="rect">
            <a:avLst/>
          </a:prstGeom>
          <a:noFill/>
          <a:ln/>
        </p:spPr>
        <p:txBody>
          <a:bodyPr wrap="square" lIns="0" tIns="0" rIns="0" bIns="0" rtlCol="0" anchor="ctr"/>
          <a:lstStyle/>
          <a:p>
            <a:pPr marL="0" indent="0">
              <a:buNone/>
            </a:pPr>
            <a:r>
              <a:rPr lang="en-US" sz="2000" b="1" dirty="0">
                <a:solidFill>
                  <a:schemeClr val="accent1"/>
                </a:solidFill>
              </a:rPr>
              <a:t>→</a:t>
            </a:r>
            <a:endParaRPr lang="en-US" sz="2000" dirty="0"/>
          </a:p>
        </p:txBody>
      </p:sp>
      <p:sp>
        <p:nvSpPr>
          <p:cNvPr id="18" name="challenge 4 solution"/>
          <p:cNvSpPr txBox="1"/>
          <p:nvPr/>
        </p:nvSpPr>
        <p:spPr>
          <a:xfrm>
            <a:off x="4892040" y="4206240"/>
            <a:ext cx="6492240" cy="822960"/>
          </a:xfrm>
          <a:prstGeom prst="rect">
            <a:avLst/>
          </a:prstGeom>
          <a:noFill/>
          <a:ln/>
        </p:spPr>
        <p:txBody>
          <a:bodyPr wrap="square" lIns="0" tIns="0" rIns="0" bIns="0" rtlCol="0" anchor="ctr"/>
          <a:lstStyle/>
          <a:p>
            <a:pPr marL="0" indent="0">
              <a:buNone/>
            </a:pPr>
            <a:r>
              <a:rPr lang="en-US" sz="1400" dirty="0">
                <a:solidFill>
                  <a:schemeClr val="tx1"/>
                </a:solidFill>
              </a:rPr>
              <a:t>Ask the provider which models the key can use; no retries on 401/404; clear guidance in the UI</a:t>
            </a:r>
            <a:endParaRPr lang="en-US" sz="1400" dirty="0"/>
          </a:p>
        </p:txBody>
      </p:sp>
      <p:sp>
        <p:nvSpPr>
          <p:cNvPr id="19" name="challenge 5 card"/>
          <p:cNvSpPr/>
          <p:nvPr/>
        </p:nvSpPr>
        <p:spPr>
          <a:xfrm>
            <a:off x="548640" y="5166360"/>
            <a:ext cx="11094415" cy="822960"/>
          </a:xfrm>
          <a:prstGeom prst="roundRect">
            <a:avLst>
              <a:gd name="adj" fmla="val 8889"/>
            </a:avLst>
          </a:prstGeom>
          <a:solidFill>
            <a:schemeClr val="bg2"/>
          </a:solidFill>
          <a:ln/>
        </p:spPr>
      </p:sp>
      <p:sp>
        <p:nvSpPr>
          <p:cNvPr id="20" name="challenge 5"/>
          <p:cNvSpPr txBox="1"/>
          <p:nvPr/>
        </p:nvSpPr>
        <p:spPr>
          <a:xfrm>
            <a:off x="822960" y="5166360"/>
            <a:ext cx="3566160" cy="822960"/>
          </a:xfrm>
          <a:prstGeom prst="rect">
            <a:avLst/>
          </a:prstGeom>
          <a:noFill/>
          <a:ln/>
        </p:spPr>
        <p:txBody>
          <a:bodyPr wrap="square" lIns="0" tIns="0" rIns="0" bIns="0" rtlCol="0" anchor="ctr"/>
          <a:lstStyle/>
          <a:p>
            <a:pPr marL="0" indent="0">
              <a:buNone/>
            </a:pPr>
            <a:r>
              <a:rPr lang="en-US" sz="1600" b="1" dirty="0">
                <a:solidFill>
                  <a:schemeClr val="tx1"/>
                </a:solidFill>
              </a:rPr>
              <a:t>Streamlit reruns the script</a:t>
            </a:r>
            <a:endParaRPr lang="en-US" sz="1600" dirty="0"/>
          </a:p>
        </p:txBody>
      </p:sp>
      <p:sp>
        <p:nvSpPr>
          <p:cNvPr id="21" name="challenge 5 arrow"/>
          <p:cNvSpPr txBox="1"/>
          <p:nvPr/>
        </p:nvSpPr>
        <p:spPr>
          <a:xfrm>
            <a:off x="4434840" y="5166360"/>
            <a:ext cx="365760" cy="822960"/>
          </a:xfrm>
          <a:prstGeom prst="rect">
            <a:avLst/>
          </a:prstGeom>
          <a:noFill/>
          <a:ln/>
        </p:spPr>
        <p:txBody>
          <a:bodyPr wrap="square" lIns="0" tIns="0" rIns="0" bIns="0" rtlCol="0" anchor="ctr"/>
          <a:lstStyle/>
          <a:p>
            <a:pPr marL="0" indent="0">
              <a:buNone/>
            </a:pPr>
            <a:r>
              <a:rPr lang="en-US" sz="2000" b="1" dirty="0">
                <a:solidFill>
                  <a:schemeClr val="accent1"/>
                </a:solidFill>
              </a:rPr>
              <a:t>→</a:t>
            </a:r>
            <a:endParaRPr lang="en-US" sz="2000" dirty="0"/>
          </a:p>
        </p:txBody>
      </p:sp>
      <p:sp>
        <p:nvSpPr>
          <p:cNvPr id="22" name="challenge 5 solution"/>
          <p:cNvSpPr txBox="1"/>
          <p:nvPr/>
        </p:nvSpPr>
        <p:spPr>
          <a:xfrm>
            <a:off x="4892040" y="5166360"/>
            <a:ext cx="6492240" cy="822960"/>
          </a:xfrm>
          <a:prstGeom prst="rect">
            <a:avLst/>
          </a:prstGeom>
          <a:noFill/>
          <a:ln/>
        </p:spPr>
        <p:txBody>
          <a:bodyPr wrap="square" lIns="0" tIns="0" rIns="0" bIns="0" rtlCol="0" anchor="ctr"/>
          <a:lstStyle/>
          <a:p>
            <a:pPr marL="0" indent="0">
              <a:buNone/>
            </a:pPr>
            <a:r>
              <a:rPr lang="en-US" sz="1400" dirty="0">
                <a:solidFill>
                  <a:schemeClr val="tx1"/>
                </a:solidFill>
              </a:rPr>
              <a:t>State in st.session_state, handlers attached once, class checks by name, cached model lists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Future enhancements</a:t>
            </a:r>
            <a:endParaRPr lang="en-US" sz="3200" dirty="0"/>
          </a:p>
        </p:txBody>
      </p:sp>
      <p:sp>
        <p:nvSpPr>
          <p:cNvPr id="3" name="future 1 card"/>
          <p:cNvSpPr/>
          <p:nvPr/>
        </p:nvSpPr>
        <p:spPr>
          <a:xfrm>
            <a:off x="548640" y="1371600"/>
            <a:ext cx="3520440" cy="2240280"/>
          </a:xfrm>
          <a:prstGeom prst="roundRect">
            <a:avLst>
              <a:gd name="adj" fmla="val 3265"/>
            </a:avLst>
          </a:prstGeom>
          <a:solidFill>
            <a:schemeClr val="bg2"/>
          </a:solidFill>
          <a:ln/>
        </p:spPr>
      </p:sp>
      <p:sp>
        <p:nvSpPr>
          <p:cNvPr id="4" name="future 1 circle"/>
          <p:cNvSpPr/>
          <p:nvPr/>
        </p:nvSpPr>
        <p:spPr>
          <a:xfrm>
            <a:off x="822960" y="1645920"/>
            <a:ext cx="640080" cy="640080"/>
          </a:xfrm>
          <a:prstGeom prst="ellipse">
            <a:avLst/>
          </a:prstGeom>
          <a:solidFill>
            <a:schemeClr val="tx2"/>
          </a:solidFill>
          <a:ln/>
        </p:spPr>
      </p:sp>
      <p:pic>
        <p:nvPicPr>
          <p:cNvPr id="5" name="future 1 icon" descr="future 1"/>
          <p:cNvPicPr>
            <a:picLocks noChangeAspect="1"/>
          </p:cNvPicPr>
          <p:nvPr/>
        </p:nvPicPr>
        <p:blipFill>
          <a:blip r:embed="rId3"/>
          <a:stretch>
            <a:fillRect/>
          </a:stretch>
        </p:blipFill>
        <p:spPr>
          <a:xfrm>
            <a:off x="982980" y="1805940"/>
            <a:ext cx="320040" cy="320040"/>
          </a:xfrm>
          <a:prstGeom prst="rect">
            <a:avLst/>
          </a:prstGeom>
        </p:spPr>
      </p:pic>
      <p:sp>
        <p:nvSpPr>
          <p:cNvPr id="6" name="future 1 title"/>
          <p:cNvSpPr txBox="1"/>
          <p:nvPr/>
        </p:nvSpPr>
        <p:spPr>
          <a:xfrm>
            <a:off x="1600200" y="164592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Claim-level verification</a:t>
            </a:r>
            <a:endParaRPr lang="en-US" sz="1600" dirty="0"/>
          </a:p>
        </p:txBody>
      </p:sp>
      <p:sp>
        <p:nvSpPr>
          <p:cNvPr id="7" name="future 1 text"/>
          <p:cNvSpPr txBox="1"/>
          <p:nvPr/>
        </p:nvSpPr>
        <p:spPr>
          <a:xfrm>
            <a:off x="822960" y="2423160"/>
            <a:ext cx="2971800" cy="1097280"/>
          </a:xfrm>
          <a:prstGeom prst="rect">
            <a:avLst/>
          </a:prstGeom>
          <a:noFill/>
          <a:ln/>
        </p:spPr>
        <p:txBody>
          <a:bodyPr wrap="square" lIns="0" tIns="0" rIns="0" bIns="0" rtlCol="0" anchor="t"/>
          <a:lstStyle/>
          <a:p>
            <a:pPr marL="0" indent="0">
              <a:buNone/>
            </a:pPr>
            <a:r>
              <a:rPr lang="en-US" sz="1400" dirty="0">
                <a:solidFill>
                  <a:schemeClr val="tx1"/>
                </a:solidFill>
              </a:rPr>
              <a:t>Match numbers with units and context; NLI entailment per bullet. Today “12” is found inside “1,200”.</a:t>
            </a:r>
            <a:endParaRPr lang="en-US" sz="1400" dirty="0"/>
          </a:p>
        </p:txBody>
      </p:sp>
      <p:sp>
        <p:nvSpPr>
          <p:cNvPr id="8" name="future 2 card"/>
          <p:cNvSpPr/>
          <p:nvPr/>
        </p:nvSpPr>
        <p:spPr>
          <a:xfrm>
            <a:off x="4297680" y="1371600"/>
            <a:ext cx="3520440" cy="2240280"/>
          </a:xfrm>
          <a:prstGeom prst="roundRect">
            <a:avLst>
              <a:gd name="adj" fmla="val 3265"/>
            </a:avLst>
          </a:prstGeom>
          <a:solidFill>
            <a:schemeClr val="bg2"/>
          </a:solidFill>
          <a:ln/>
        </p:spPr>
      </p:sp>
      <p:sp>
        <p:nvSpPr>
          <p:cNvPr id="9" name="future 2 circle"/>
          <p:cNvSpPr/>
          <p:nvPr/>
        </p:nvSpPr>
        <p:spPr>
          <a:xfrm>
            <a:off x="4572000" y="1645920"/>
            <a:ext cx="640080" cy="640080"/>
          </a:xfrm>
          <a:prstGeom prst="ellipse">
            <a:avLst/>
          </a:prstGeom>
          <a:solidFill>
            <a:schemeClr val="tx2"/>
          </a:solidFill>
          <a:ln/>
        </p:spPr>
      </p:sp>
      <p:pic>
        <p:nvPicPr>
          <p:cNvPr id="10" name="future 2 icon" descr="future 2"/>
          <p:cNvPicPr>
            <a:picLocks noChangeAspect="1"/>
          </p:cNvPicPr>
          <p:nvPr/>
        </p:nvPicPr>
        <p:blipFill>
          <a:blip r:embed="rId4"/>
          <a:stretch>
            <a:fillRect/>
          </a:stretch>
        </p:blipFill>
        <p:spPr>
          <a:xfrm>
            <a:off x="4732020" y="1805940"/>
            <a:ext cx="320040" cy="320040"/>
          </a:xfrm>
          <a:prstGeom prst="rect">
            <a:avLst/>
          </a:prstGeom>
        </p:spPr>
      </p:pic>
      <p:sp>
        <p:nvSpPr>
          <p:cNvPr id="11" name="future 2 title"/>
          <p:cNvSpPr txBox="1"/>
          <p:nvPr/>
        </p:nvSpPr>
        <p:spPr>
          <a:xfrm>
            <a:off x="5349240" y="164592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Labelled benchmark</a:t>
            </a:r>
            <a:endParaRPr lang="en-US" sz="1600" dirty="0"/>
          </a:p>
        </p:txBody>
      </p:sp>
      <p:sp>
        <p:nvSpPr>
          <p:cNvPr id="12" name="future 2 text"/>
          <p:cNvSpPr txBox="1"/>
          <p:nvPr/>
        </p:nvSpPr>
        <p:spPr>
          <a:xfrm>
            <a:off x="4572000" y="2423160"/>
            <a:ext cx="2971800" cy="1097280"/>
          </a:xfrm>
          <a:prstGeom prst="rect">
            <a:avLst/>
          </a:prstGeom>
          <a:noFill/>
          <a:ln/>
        </p:spPr>
        <p:txBody>
          <a:bodyPr wrap="square" lIns="0" tIns="0" rIns="0" bIns="0" rtlCol="0" anchor="t"/>
          <a:lstStyle/>
          <a:p>
            <a:pPr marL="0" indent="0">
              <a:buNone/>
            </a:pPr>
            <a:r>
              <a:rPr lang="en-US" sz="1400" dirty="0">
                <a:solidFill>
                  <a:schemeClr val="tx1"/>
                </a:solidFill>
              </a:rPr>
              <a:t>20–30 real arXiv papers with questions; track Recall@k, MRR and RAGAS faithfulness.</a:t>
            </a:r>
            <a:endParaRPr lang="en-US" sz="1400" dirty="0"/>
          </a:p>
        </p:txBody>
      </p:sp>
      <p:sp>
        <p:nvSpPr>
          <p:cNvPr id="13" name="future 3 card"/>
          <p:cNvSpPr/>
          <p:nvPr/>
        </p:nvSpPr>
        <p:spPr>
          <a:xfrm>
            <a:off x="8046720" y="1371600"/>
            <a:ext cx="3520440" cy="2240280"/>
          </a:xfrm>
          <a:prstGeom prst="roundRect">
            <a:avLst>
              <a:gd name="adj" fmla="val 3265"/>
            </a:avLst>
          </a:prstGeom>
          <a:solidFill>
            <a:schemeClr val="bg2"/>
          </a:solidFill>
          <a:ln/>
        </p:spPr>
      </p:sp>
      <p:sp>
        <p:nvSpPr>
          <p:cNvPr id="14" name="future 3 circle"/>
          <p:cNvSpPr/>
          <p:nvPr/>
        </p:nvSpPr>
        <p:spPr>
          <a:xfrm>
            <a:off x="8321040" y="1645920"/>
            <a:ext cx="640080" cy="640080"/>
          </a:xfrm>
          <a:prstGeom prst="ellipse">
            <a:avLst/>
          </a:prstGeom>
          <a:solidFill>
            <a:schemeClr val="tx2"/>
          </a:solidFill>
          <a:ln/>
        </p:spPr>
      </p:sp>
      <p:pic>
        <p:nvPicPr>
          <p:cNvPr id="15" name="future 3 icon" descr="future 3"/>
          <p:cNvPicPr>
            <a:picLocks noChangeAspect="1"/>
          </p:cNvPicPr>
          <p:nvPr/>
        </p:nvPicPr>
        <p:blipFill>
          <a:blip r:embed="rId5"/>
          <a:stretch>
            <a:fillRect/>
          </a:stretch>
        </p:blipFill>
        <p:spPr>
          <a:xfrm>
            <a:off x="8481060" y="1805940"/>
            <a:ext cx="320040" cy="320040"/>
          </a:xfrm>
          <a:prstGeom prst="rect">
            <a:avLst/>
          </a:prstGeom>
        </p:spPr>
      </p:pic>
      <p:sp>
        <p:nvSpPr>
          <p:cNvPr id="16" name="future 3 title"/>
          <p:cNvSpPr txBox="1"/>
          <p:nvPr/>
        </p:nvSpPr>
        <p:spPr>
          <a:xfrm>
            <a:off x="9098280" y="164592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Hybrid search + re-ranking</a:t>
            </a:r>
            <a:endParaRPr lang="en-US" sz="1600" dirty="0"/>
          </a:p>
        </p:txBody>
      </p:sp>
      <p:sp>
        <p:nvSpPr>
          <p:cNvPr id="17" name="future 3 text"/>
          <p:cNvSpPr txBox="1"/>
          <p:nvPr/>
        </p:nvSpPr>
        <p:spPr>
          <a:xfrm>
            <a:off x="8321040" y="2423160"/>
            <a:ext cx="2971800" cy="1097280"/>
          </a:xfrm>
          <a:prstGeom prst="rect">
            <a:avLst/>
          </a:prstGeom>
          <a:noFill/>
          <a:ln/>
        </p:spPr>
        <p:txBody>
          <a:bodyPr wrap="square" lIns="0" tIns="0" rIns="0" bIns="0" rtlCol="0" anchor="t"/>
          <a:lstStyle/>
          <a:p>
            <a:pPr marL="0" indent="0">
              <a:buNone/>
            </a:pPr>
            <a:r>
              <a:rPr lang="en-US" sz="1400" dirty="0">
                <a:solidFill>
                  <a:schemeClr val="tx1"/>
                </a:solidFill>
              </a:rPr>
              <a:t>BM25 + dense vectors and a cross-encoder for exact terms like dataset names.</a:t>
            </a:r>
            <a:endParaRPr lang="en-US" sz="1400" dirty="0"/>
          </a:p>
        </p:txBody>
      </p:sp>
      <p:sp>
        <p:nvSpPr>
          <p:cNvPr id="18" name="future 4 card"/>
          <p:cNvSpPr/>
          <p:nvPr/>
        </p:nvSpPr>
        <p:spPr>
          <a:xfrm>
            <a:off x="548640" y="3794760"/>
            <a:ext cx="3520440" cy="2240280"/>
          </a:xfrm>
          <a:prstGeom prst="roundRect">
            <a:avLst>
              <a:gd name="adj" fmla="val 3265"/>
            </a:avLst>
          </a:prstGeom>
          <a:solidFill>
            <a:schemeClr val="bg2"/>
          </a:solidFill>
          <a:ln/>
        </p:spPr>
      </p:sp>
      <p:sp>
        <p:nvSpPr>
          <p:cNvPr id="19" name="future 4 circle"/>
          <p:cNvSpPr/>
          <p:nvPr/>
        </p:nvSpPr>
        <p:spPr>
          <a:xfrm>
            <a:off x="822960" y="4069080"/>
            <a:ext cx="640080" cy="640080"/>
          </a:xfrm>
          <a:prstGeom prst="ellipse">
            <a:avLst/>
          </a:prstGeom>
          <a:solidFill>
            <a:schemeClr val="tx2"/>
          </a:solidFill>
          <a:ln/>
        </p:spPr>
      </p:sp>
      <p:pic>
        <p:nvPicPr>
          <p:cNvPr id="20" name="future 4 icon" descr="future 4"/>
          <p:cNvPicPr>
            <a:picLocks noChangeAspect="1"/>
          </p:cNvPicPr>
          <p:nvPr/>
        </p:nvPicPr>
        <p:blipFill>
          <a:blip r:embed="rId6"/>
          <a:stretch>
            <a:fillRect/>
          </a:stretch>
        </p:blipFill>
        <p:spPr>
          <a:xfrm>
            <a:off x="982980" y="4229100"/>
            <a:ext cx="320040" cy="320040"/>
          </a:xfrm>
          <a:prstGeom prst="rect">
            <a:avLst/>
          </a:prstGeom>
        </p:spPr>
      </p:pic>
      <p:sp>
        <p:nvSpPr>
          <p:cNvPr id="21" name="future 4 title"/>
          <p:cNvSpPr txBox="1"/>
          <p:nvPr/>
        </p:nvSpPr>
        <p:spPr>
          <a:xfrm>
            <a:off x="1600200" y="406908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Tables, figures, OCR</a:t>
            </a:r>
            <a:endParaRPr lang="en-US" sz="1600" dirty="0"/>
          </a:p>
        </p:txBody>
      </p:sp>
      <p:sp>
        <p:nvSpPr>
          <p:cNvPr id="22" name="future 4 text"/>
          <p:cNvSpPr txBox="1"/>
          <p:nvPr/>
        </p:nvSpPr>
        <p:spPr>
          <a:xfrm>
            <a:off x="822960" y="4846320"/>
            <a:ext cx="2971800" cy="1097280"/>
          </a:xfrm>
          <a:prstGeom prst="rect">
            <a:avLst/>
          </a:prstGeom>
          <a:noFill/>
          <a:ln/>
        </p:spPr>
        <p:txBody>
          <a:bodyPr wrap="square" lIns="0" tIns="0" rIns="0" bIns="0" rtlCol="0" anchor="t"/>
          <a:lstStyle/>
          <a:p>
            <a:pPr marL="0" indent="0">
              <a:buNone/>
            </a:pPr>
            <a:r>
              <a:rPr lang="en-US" sz="1400" dirty="0">
                <a:solidFill>
                  <a:schemeClr val="tx1"/>
                </a:solidFill>
              </a:rPr>
              <a:t>Parse result tables and scanned PDFs so numbers can be compared across papers.</a:t>
            </a:r>
            <a:endParaRPr lang="en-US" sz="1400" dirty="0"/>
          </a:p>
        </p:txBody>
      </p:sp>
      <p:sp>
        <p:nvSpPr>
          <p:cNvPr id="23" name="future 5 card"/>
          <p:cNvSpPr/>
          <p:nvPr/>
        </p:nvSpPr>
        <p:spPr>
          <a:xfrm>
            <a:off x="4297680" y="3794760"/>
            <a:ext cx="3520440" cy="2240280"/>
          </a:xfrm>
          <a:prstGeom prst="roundRect">
            <a:avLst>
              <a:gd name="adj" fmla="val 3265"/>
            </a:avLst>
          </a:prstGeom>
          <a:solidFill>
            <a:schemeClr val="bg2"/>
          </a:solidFill>
          <a:ln/>
        </p:spPr>
      </p:sp>
      <p:sp>
        <p:nvSpPr>
          <p:cNvPr id="24" name="future 5 circle"/>
          <p:cNvSpPr/>
          <p:nvPr/>
        </p:nvSpPr>
        <p:spPr>
          <a:xfrm>
            <a:off x="4572000" y="4069080"/>
            <a:ext cx="640080" cy="640080"/>
          </a:xfrm>
          <a:prstGeom prst="ellipse">
            <a:avLst/>
          </a:prstGeom>
          <a:solidFill>
            <a:schemeClr val="tx2"/>
          </a:solidFill>
          <a:ln/>
        </p:spPr>
      </p:sp>
      <p:pic>
        <p:nvPicPr>
          <p:cNvPr id="25" name="future 5 icon" descr="future 5"/>
          <p:cNvPicPr>
            <a:picLocks noChangeAspect="1"/>
          </p:cNvPicPr>
          <p:nvPr/>
        </p:nvPicPr>
        <p:blipFill>
          <a:blip r:embed="rId7"/>
          <a:stretch>
            <a:fillRect/>
          </a:stretch>
        </p:blipFill>
        <p:spPr>
          <a:xfrm>
            <a:off x="4732020" y="4229100"/>
            <a:ext cx="320040" cy="320040"/>
          </a:xfrm>
          <a:prstGeom prst="rect">
            <a:avLst/>
          </a:prstGeom>
        </p:spPr>
      </p:pic>
      <p:sp>
        <p:nvSpPr>
          <p:cNvPr id="26" name="future 5 title"/>
          <p:cNvSpPr txBox="1"/>
          <p:nvPr/>
        </p:nvSpPr>
        <p:spPr>
          <a:xfrm>
            <a:off x="5349240" y="406908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Parallel agents</a:t>
            </a:r>
            <a:endParaRPr lang="en-US" sz="1600" dirty="0"/>
          </a:p>
        </p:txBody>
      </p:sp>
      <p:sp>
        <p:nvSpPr>
          <p:cNvPr id="27" name="future 5 text"/>
          <p:cNvSpPr txBox="1"/>
          <p:nvPr/>
        </p:nvSpPr>
        <p:spPr>
          <a:xfrm>
            <a:off x="4572000" y="4846320"/>
            <a:ext cx="2971800" cy="1097280"/>
          </a:xfrm>
          <a:prstGeom prst="rect">
            <a:avLst/>
          </a:prstGeom>
          <a:noFill/>
          <a:ln/>
        </p:spPr>
        <p:txBody>
          <a:bodyPr wrap="square" lIns="0" tIns="0" rIns="0" bIns="0" rtlCol="0" anchor="t"/>
          <a:lstStyle/>
          <a:p>
            <a:pPr marL="0" indent="0">
              <a:buNone/>
            </a:pPr>
            <a:r>
              <a:rPr lang="en-US" sz="1400" dirty="0">
                <a:solidFill>
                  <a:schemeClr val="tx1"/>
                </a:solidFill>
              </a:rPr>
              <a:t>Per-paper research and summaries in parallel (LangGraph Send / async).</a:t>
            </a:r>
            <a:endParaRPr lang="en-US" sz="1400" dirty="0"/>
          </a:p>
        </p:txBody>
      </p:sp>
      <p:sp>
        <p:nvSpPr>
          <p:cNvPr id="28" name="future 6 card"/>
          <p:cNvSpPr/>
          <p:nvPr/>
        </p:nvSpPr>
        <p:spPr>
          <a:xfrm>
            <a:off x="8046720" y="3794760"/>
            <a:ext cx="3520440" cy="2240280"/>
          </a:xfrm>
          <a:prstGeom prst="roundRect">
            <a:avLst>
              <a:gd name="adj" fmla="val 3265"/>
            </a:avLst>
          </a:prstGeom>
          <a:solidFill>
            <a:schemeClr val="bg2"/>
          </a:solidFill>
          <a:ln/>
        </p:spPr>
      </p:sp>
      <p:sp>
        <p:nvSpPr>
          <p:cNvPr id="29" name="future 6 circle"/>
          <p:cNvSpPr/>
          <p:nvPr/>
        </p:nvSpPr>
        <p:spPr>
          <a:xfrm>
            <a:off x="8321040" y="4069080"/>
            <a:ext cx="640080" cy="640080"/>
          </a:xfrm>
          <a:prstGeom prst="ellipse">
            <a:avLst/>
          </a:prstGeom>
          <a:solidFill>
            <a:schemeClr val="tx2"/>
          </a:solidFill>
          <a:ln/>
        </p:spPr>
      </p:sp>
      <p:pic>
        <p:nvPicPr>
          <p:cNvPr id="30" name="future 6 icon" descr="future 6"/>
          <p:cNvPicPr>
            <a:picLocks noChangeAspect="1"/>
          </p:cNvPicPr>
          <p:nvPr/>
        </p:nvPicPr>
        <p:blipFill>
          <a:blip r:embed="rId8"/>
          <a:stretch>
            <a:fillRect/>
          </a:stretch>
        </p:blipFill>
        <p:spPr>
          <a:xfrm>
            <a:off x="8481060" y="4229100"/>
            <a:ext cx="320040" cy="320040"/>
          </a:xfrm>
          <a:prstGeom prst="rect">
            <a:avLst/>
          </a:prstGeom>
        </p:spPr>
      </p:pic>
      <p:sp>
        <p:nvSpPr>
          <p:cNvPr id="31" name="future 6 title"/>
          <p:cNvSpPr txBox="1"/>
          <p:nvPr/>
        </p:nvSpPr>
        <p:spPr>
          <a:xfrm>
            <a:off x="9098280" y="4069080"/>
            <a:ext cx="2240280" cy="640080"/>
          </a:xfrm>
          <a:prstGeom prst="rect">
            <a:avLst/>
          </a:prstGeom>
          <a:noFill/>
          <a:ln/>
        </p:spPr>
        <p:txBody>
          <a:bodyPr wrap="square" lIns="0" tIns="0" rIns="0" bIns="0" rtlCol="0" anchor="ctr"/>
          <a:lstStyle/>
          <a:p>
            <a:pPr marL="0" indent="0">
              <a:buNone/>
            </a:pPr>
            <a:r>
              <a:rPr lang="en-US" sz="1600" b="1" dirty="0">
                <a:solidFill>
                  <a:schemeClr val="tx1"/>
                </a:solidFill>
              </a:rPr>
              <a:t>Production deployment</a:t>
            </a:r>
            <a:endParaRPr lang="en-US" sz="1600" dirty="0"/>
          </a:p>
        </p:txBody>
      </p:sp>
      <p:sp>
        <p:nvSpPr>
          <p:cNvPr id="32" name="future 6 text"/>
          <p:cNvSpPr txBox="1"/>
          <p:nvPr/>
        </p:nvSpPr>
        <p:spPr>
          <a:xfrm>
            <a:off x="8321040" y="4846320"/>
            <a:ext cx="2971800" cy="1097280"/>
          </a:xfrm>
          <a:prstGeom prst="rect">
            <a:avLst/>
          </a:prstGeom>
          <a:noFill/>
          <a:ln/>
        </p:spPr>
        <p:txBody>
          <a:bodyPr wrap="square" lIns="0" tIns="0" rIns="0" bIns="0" rtlCol="0" anchor="t"/>
          <a:lstStyle/>
          <a:p>
            <a:pPr marL="0" indent="0">
              <a:buNone/>
            </a:pPr>
            <a:r>
              <a:rPr lang="en-US" sz="1400" dirty="0">
                <a:solidFill>
                  <a:schemeClr val="tx1"/>
                </a:solidFill>
              </a:rPr>
              <a:t>Docker, CI tests, persistent user libraries, DOCX/Markdown download buttons.</a:t>
            </a:r>
            <a:endParaRPr lang="en-US" sz="14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Key learnings</a:t>
            </a:r>
            <a:endParaRPr lang="en-US" sz="3200" dirty="0"/>
          </a:p>
        </p:txBody>
      </p:sp>
      <p:sp>
        <p:nvSpPr>
          <p:cNvPr id="3" name="learning 1 number"/>
          <p:cNvSpPr txBox="1"/>
          <p:nvPr/>
        </p:nvSpPr>
        <p:spPr>
          <a:xfrm>
            <a:off x="548640" y="1371600"/>
            <a:ext cx="731520" cy="1005840"/>
          </a:xfrm>
          <a:prstGeom prst="rect">
            <a:avLst/>
          </a:prstGeom>
          <a:noFill/>
          <a:ln/>
        </p:spPr>
        <p:txBody>
          <a:bodyPr wrap="square" lIns="0" tIns="0" rIns="0" bIns="0" rtlCol="0" anchor="ctr"/>
          <a:lstStyle/>
          <a:p>
            <a:pPr marL="0" indent="0">
              <a:buNone/>
            </a:pPr>
            <a:r>
              <a:rPr lang="en-US" sz="4000" b="1" dirty="0">
                <a:solidFill>
                  <a:schemeClr val="accent1"/>
                </a:solidFill>
              </a:rPr>
              <a:t>1</a:t>
            </a:r>
            <a:endParaRPr lang="en-US" sz="4000" dirty="0"/>
          </a:p>
        </p:txBody>
      </p:sp>
      <p:sp>
        <p:nvSpPr>
          <p:cNvPr id="4" name="learning 1 text"/>
          <p:cNvSpPr txBox="1"/>
          <p:nvPr/>
        </p:nvSpPr>
        <p:spPr>
          <a:xfrm>
            <a:off x="1417320" y="1371600"/>
            <a:ext cx="6492240" cy="1005840"/>
          </a:xfrm>
          <a:prstGeom prst="rect">
            <a:avLst/>
          </a:prstGeom>
          <a:noFill/>
          <a:ln/>
        </p:spPr>
        <p:txBody>
          <a:bodyPr wrap="square" lIns="0" tIns="0" rIns="0" bIns="0" rtlCol="0" anchor="ctr"/>
          <a:lstStyle/>
          <a:p>
            <a:pPr marL="0" indent="0">
              <a:buNone/>
            </a:pPr>
            <a:r>
              <a:rPr lang="en-US" sz="1900" b="1" dirty="0">
                <a:solidFill>
                  <a:schemeClr val="tx1"/>
                </a:solidFill>
              </a:rPr>
              <a:t>Retrieval quality decides answer quality</a:t>
            </a:r>
            <a:endParaRPr lang="en-US" sz="1900" dirty="0"/>
          </a:p>
          <a:p>
            <a:pPr marL="0" indent="0">
              <a:buNone/>
            </a:pPr>
            <a:r>
              <a:rPr lang="en-US" sz="1500" dirty="0">
                <a:solidFill>
                  <a:srgbClr val="5B6573"/>
                </a:solidFill>
              </a:rPr>
              <a:t>Most bad answers traced back to the wrong chunks, not the model. Section metadata was the biggest single improvement.</a:t>
            </a:r>
            <a:endParaRPr lang="en-US" sz="1900" dirty="0"/>
          </a:p>
        </p:txBody>
      </p:sp>
      <p:sp>
        <p:nvSpPr>
          <p:cNvPr id="5" name="learning 2 number"/>
          <p:cNvSpPr txBox="1"/>
          <p:nvPr/>
        </p:nvSpPr>
        <p:spPr>
          <a:xfrm>
            <a:off x="548640" y="2578608"/>
            <a:ext cx="731520" cy="1005840"/>
          </a:xfrm>
          <a:prstGeom prst="rect">
            <a:avLst/>
          </a:prstGeom>
          <a:noFill/>
          <a:ln/>
        </p:spPr>
        <p:txBody>
          <a:bodyPr wrap="square" lIns="0" tIns="0" rIns="0" bIns="0" rtlCol="0" anchor="ctr"/>
          <a:lstStyle/>
          <a:p>
            <a:pPr marL="0" indent="0">
              <a:buNone/>
            </a:pPr>
            <a:r>
              <a:rPr lang="en-US" sz="4000" b="1" dirty="0">
                <a:solidFill>
                  <a:schemeClr val="accent1"/>
                </a:solidFill>
              </a:rPr>
              <a:t>2</a:t>
            </a:r>
            <a:endParaRPr lang="en-US" sz="4000" dirty="0"/>
          </a:p>
        </p:txBody>
      </p:sp>
      <p:sp>
        <p:nvSpPr>
          <p:cNvPr id="6" name="learning 2 text"/>
          <p:cNvSpPr txBox="1"/>
          <p:nvPr/>
        </p:nvSpPr>
        <p:spPr>
          <a:xfrm>
            <a:off x="1417320" y="2578608"/>
            <a:ext cx="6492240" cy="1005840"/>
          </a:xfrm>
          <a:prstGeom prst="rect">
            <a:avLst/>
          </a:prstGeom>
          <a:noFill/>
          <a:ln/>
        </p:spPr>
        <p:txBody>
          <a:bodyPr wrap="square" lIns="0" tIns="0" rIns="0" bIns="0" rtlCol="0" anchor="ctr"/>
          <a:lstStyle/>
          <a:p>
            <a:pPr marL="0" indent="0">
              <a:buNone/>
            </a:pPr>
            <a:r>
              <a:rPr lang="en-US" sz="1900" b="1" dirty="0">
                <a:solidFill>
                  <a:schemeClr val="tx1"/>
                </a:solidFill>
              </a:rPr>
              <a:t>Verify with rules where you can</a:t>
            </a:r>
            <a:endParaRPr lang="en-US" sz="1900" dirty="0"/>
          </a:p>
          <a:p>
            <a:pPr marL="0" indent="0">
              <a:buNone/>
            </a:pPr>
            <a:r>
              <a:rPr lang="en-US" sz="1500" dirty="0">
                <a:solidFill>
                  <a:srgbClr val="5B6573"/>
                </a:solidFill>
              </a:rPr>
              <a:t>A deterministic Reviewer is cheap, reproducible and can't be talked round — but it must be tested with deliberately bad input.</a:t>
            </a:r>
            <a:endParaRPr lang="en-US" sz="1900" dirty="0"/>
          </a:p>
        </p:txBody>
      </p:sp>
      <p:sp>
        <p:nvSpPr>
          <p:cNvPr id="7" name="learning 3 number"/>
          <p:cNvSpPr txBox="1"/>
          <p:nvPr/>
        </p:nvSpPr>
        <p:spPr>
          <a:xfrm>
            <a:off x="548640" y="3785616"/>
            <a:ext cx="731520" cy="1005840"/>
          </a:xfrm>
          <a:prstGeom prst="rect">
            <a:avLst/>
          </a:prstGeom>
          <a:noFill/>
          <a:ln/>
        </p:spPr>
        <p:txBody>
          <a:bodyPr wrap="square" lIns="0" tIns="0" rIns="0" bIns="0" rtlCol="0" anchor="ctr"/>
          <a:lstStyle/>
          <a:p>
            <a:pPr marL="0" indent="0">
              <a:buNone/>
            </a:pPr>
            <a:r>
              <a:rPr lang="en-US" sz="4000" b="1" dirty="0">
                <a:solidFill>
                  <a:schemeClr val="accent1"/>
                </a:solidFill>
              </a:rPr>
              <a:t>3</a:t>
            </a:r>
            <a:endParaRPr lang="en-US" sz="4000" dirty="0"/>
          </a:p>
        </p:txBody>
      </p:sp>
      <p:sp>
        <p:nvSpPr>
          <p:cNvPr id="8" name="learning 3 text"/>
          <p:cNvSpPr txBox="1"/>
          <p:nvPr/>
        </p:nvSpPr>
        <p:spPr>
          <a:xfrm>
            <a:off x="1417320" y="3785616"/>
            <a:ext cx="6492240" cy="1005840"/>
          </a:xfrm>
          <a:prstGeom prst="rect">
            <a:avLst/>
          </a:prstGeom>
          <a:noFill/>
          <a:ln/>
        </p:spPr>
        <p:txBody>
          <a:bodyPr wrap="square" lIns="0" tIns="0" rIns="0" bIns="0" rtlCol="0" anchor="ctr"/>
          <a:lstStyle/>
          <a:p>
            <a:pPr marL="0" indent="0">
              <a:buNone/>
            </a:pPr>
            <a:r>
              <a:rPr lang="en-US" sz="1900" b="1" dirty="0">
                <a:solidFill>
                  <a:schemeClr val="tx1"/>
                </a:solidFill>
              </a:rPr>
              <a:t>Design for failure</a:t>
            </a:r>
            <a:endParaRPr lang="en-US" sz="1900" dirty="0"/>
          </a:p>
          <a:p>
            <a:pPr marL="0" indent="0">
              <a:buNone/>
            </a:pPr>
            <a:r>
              <a:rPr lang="en-US" sz="1500" dirty="0">
                <a:solidFill>
                  <a:srgbClr val="5B6573"/>
                </a:solidFill>
              </a:rPr>
              <a:t>Offline mode, fallbacks and clear errors made the app usable in a locked-down environment where the model download failed.</a:t>
            </a:r>
            <a:endParaRPr lang="en-US" sz="1900" dirty="0"/>
          </a:p>
        </p:txBody>
      </p:sp>
      <p:sp>
        <p:nvSpPr>
          <p:cNvPr id="9" name="learning 4 number"/>
          <p:cNvSpPr txBox="1"/>
          <p:nvPr/>
        </p:nvSpPr>
        <p:spPr>
          <a:xfrm>
            <a:off x="548640" y="4992624"/>
            <a:ext cx="731520" cy="1005840"/>
          </a:xfrm>
          <a:prstGeom prst="rect">
            <a:avLst/>
          </a:prstGeom>
          <a:noFill/>
          <a:ln/>
        </p:spPr>
        <p:txBody>
          <a:bodyPr wrap="square" lIns="0" tIns="0" rIns="0" bIns="0" rtlCol="0" anchor="ctr"/>
          <a:lstStyle/>
          <a:p>
            <a:pPr marL="0" indent="0">
              <a:buNone/>
            </a:pPr>
            <a:r>
              <a:rPr lang="en-US" sz="4000" b="1" dirty="0">
                <a:solidFill>
                  <a:schemeClr val="accent1"/>
                </a:solidFill>
              </a:rPr>
              <a:t>4</a:t>
            </a:r>
            <a:endParaRPr lang="en-US" sz="4000" dirty="0"/>
          </a:p>
        </p:txBody>
      </p:sp>
      <p:sp>
        <p:nvSpPr>
          <p:cNvPr id="10" name="learning 4 text"/>
          <p:cNvSpPr txBox="1"/>
          <p:nvPr/>
        </p:nvSpPr>
        <p:spPr>
          <a:xfrm>
            <a:off x="1417320" y="4992624"/>
            <a:ext cx="6492240" cy="1005840"/>
          </a:xfrm>
          <a:prstGeom prst="rect">
            <a:avLst/>
          </a:prstGeom>
          <a:noFill/>
          <a:ln/>
        </p:spPr>
        <p:txBody>
          <a:bodyPr wrap="square" lIns="0" tIns="0" rIns="0" bIns="0" rtlCol="0" anchor="ctr"/>
          <a:lstStyle/>
          <a:p>
            <a:pPr marL="0" indent="0">
              <a:buNone/>
            </a:pPr>
            <a:r>
              <a:rPr lang="en-US" sz="1900" b="1" dirty="0">
                <a:solidFill>
                  <a:schemeClr val="tx1"/>
                </a:solidFill>
              </a:rPr>
              <a:t>Agents make systems auditable</a:t>
            </a:r>
            <a:endParaRPr lang="en-US" sz="1900" dirty="0"/>
          </a:p>
          <a:p>
            <a:pPr marL="0" indent="0">
              <a:buNone/>
            </a:pPr>
            <a:r>
              <a:rPr lang="en-US" sz="1500" dirty="0">
                <a:solidFill>
                  <a:srgbClr val="5B6573"/>
                </a:solidFill>
              </a:rPr>
              <a:t>Splitting the work into agents with a trace shows exactly which step went wrong and how long each took.</a:t>
            </a:r>
            <a:endParaRPr lang="en-US" sz="1900" dirty="0"/>
          </a:p>
        </p:txBody>
      </p:sp>
      <p:pic>
        <p:nvPicPr>
          <p:cNvPr id="11" name="learning screenshot" descr="Agent trace tab"/>
          <p:cNvPicPr>
            <a:picLocks noChangeAspect="1"/>
          </p:cNvPicPr>
          <p:nvPr/>
        </p:nvPicPr>
        <p:blipFill>
          <a:blip r:embed="rId3"/>
          <a:stretch>
            <a:fillRect/>
          </a:stretch>
        </p:blipFill>
        <p:spPr>
          <a:xfrm>
            <a:off x="8183880" y="1463040"/>
            <a:ext cx="3456432" cy="2160270"/>
          </a:xfrm>
          <a:prstGeom prst="rect">
            <a:avLst/>
          </a:prstGeom>
          <a:effectLst>
            <a:outerShdw blurRad="76200" dist="25400" dir="5400000" algn="bl" rotWithShape="0">
              <a:srgbClr val="000000">
                <a:alpha val="12000"/>
              </a:srgbClr>
            </a:outerShdw>
          </a:effectLst>
        </p:spPr>
      </p:pic>
      <p:sp>
        <p:nvSpPr>
          <p:cNvPr id="12" name="learning caption"/>
          <p:cNvSpPr txBox="1"/>
          <p:nvPr/>
        </p:nvSpPr>
        <p:spPr>
          <a:xfrm>
            <a:off x="8183880" y="3749040"/>
            <a:ext cx="3456432" cy="822960"/>
          </a:xfrm>
          <a:prstGeom prst="rect">
            <a:avLst/>
          </a:prstGeom>
          <a:noFill/>
          <a:ln/>
        </p:spPr>
        <p:txBody>
          <a:bodyPr wrap="square" lIns="0" tIns="0" rIns="0" bIns="0" rtlCol="0" anchor="t"/>
          <a:lstStyle/>
          <a:p>
            <a:pPr marL="0" indent="0">
              <a:buNone/>
            </a:pPr>
            <a:r>
              <a:rPr lang="en-US" sz="1200" i="1" dirty="0">
                <a:solidFill>
                  <a:schemeClr val="accent5"/>
                </a:solidFill>
              </a:rPr>
              <a:t>The agent trace: every step, its agent and its time — the audit trail behind “auditable”.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822960"/>
            <a:ext cx="5486400" cy="365760"/>
          </a:xfrm>
          <a:prstGeom prst="rect">
            <a:avLst/>
          </a:prstGeom>
          <a:noFill/>
          <a:ln/>
        </p:spPr>
        <p:txBody>
          <a:bodyPr wrap="square" lIns="0" tIns="0" rIns="0" bIns="0" rtlCol="0" anchor="ctr"/>
          <a:lstStyle/>
          <a:p>
            <a:pPr marL="0" indent="0">
              <a:buNone/>
            </a:pPr>
            <a:r>
              <a:rPr lang="en-US" sz="1400" b="1" kern="0" spc="300" dirty="0">
                <a:solidFill>
                  <a:schemeClr val="accent1"/>
                </a:solidFill>
              </a:rPr>
              <a:t>CONCLUSION</a:t>
            </a:r>
            <a:endParaRPr lang="en-US" sz="1400" dirty="0"/>
          </a:p>
        </p:txBody>
      </p:sp>
      <p:sp>
        <p:nvSpPr>
          <p:cNvPr id="3" name="conclusion title"/>
          <p:cNvSpPr txBox="1"/>
          <p:nvPr/>
        </p:nvSpPr>
        <p:spPr>
          <a:xfrm>
            <a:off x="548640" y="1234440"/>
            <a:ext cx="10972800" cy="1280160"/>
          </a:xfrm>
          <a:prstGeom prst="rect">
            <a:avLst/>
          </a:prstGeom>
          <a:noFill/>
          <a:ln/>
        </p:spPr>
        <p:txBody>
          <a:bodyPr wrap="square" lIns="0" tIns="0" rIns="0" bIns="0" rtlCol="0" anchor="t"/>
          <a:lstStyle/>
          <a:p>
            <a:pPr marL="0" indent="0">
              <a:buNone/>
            </a:pPr>
            <a:r>
              <a:rPr lang="en-US" sz="3600" b="1" dirty="0">
                <a:solidFill>
                  <a:schemeClr val="bg1"/>
                </a:solidFill>
              </a:rPr>
              <a:t>Cited, self-checking research summaries — on any laptop</a:t>
            </a:r>
            <a:endParaRPr lang="en-US" sz="3600" dirty="0"/>
          </a:p>
        </p:txBody>
      </p:sp>
      <p:sp>
        <p:nvSpPr>
          <p:cNvPr id="4" name="conclusion card 1"/>
          <p:cNvSpPr/>
          <p:nvPr/>
        </p:nvSpPr>
        <p:spPr>
          <a:xfrm>
            <a:off x="548640" y="3108960"/>
            <a:ext cx="2606040" cy="2103120"/>
          </a:xfrm>
          <a:prstGeom prst="roundRect">
            <a:avLst>
              <a:gd name="adj" fmla="val 3478"/>
            </a:avLst>
          </a:prstGeom>
          <a:solidFill>
            <a:srgbClr val="232323"/>
          </a:solidFill>
          <a:ln/>
        </p:spPr>
      </p:sp>
      <p:sp>
        <p:nvSpPr>
          <p:cNvPr id="5" name="conclusion card 1 text"/>
          <p:cNvSpPr txBox="1"/>
          <p:nvPr/>
        </p:nvSpPr>
        <p:spPr>
          <a:xfrm>
            <a:off x="777240" y="3337560"/>
            <a:ext cx="2148840" cy="1645920"/>
          </a:xfrm>
          <a:prstGeom prst="rect">
            <a:avLst/>
          </a:prstGeom>
          <a:noFill/>
          <a:ln/>
        </p:spPr>
        <p:txBody>
          <a:bodyPr wrap="square" lIns="0" tIns="0" rIns="0" bIns="0" rtlCol="0" anchor="t"/>
          <a:lstStyle/>
          <a:p>
            <a:pPr marL="0" indent="0">
              <a:spcAft>
                <a:spcPts val="600"/>
              </a:spcAft>
              <a:buNone/>
            </a:pPr>
            <a:r>
              <a:rPr lang="en-US" sz="2000" b="1" dirty="0">
                <a:solidFill>
                  <a:srgbClr val="E0242C"/>
                </a:solidFill>
              </a:rPr>
              <a:t>Complete</a:t>
            </a:r>
            <a:endParaRPr lang="en-US" sz="2000" dirty="0"/>
          </a:p>
          <a:p>
            <a:pPr marL="0" indent="0">
              <a:spcAft>
                <a:spcPts val="600"/>
              </a:spcAft>
              <a:buNone/>
            </a:pPr>
            <a:r>
              <a:rPr lang="en-US" sz="1600" dirty="0">
                <a:solidFill>
                  <a:srgbClr val="E5E5E5"/>
                </a:solidFill>
              </a:rPr>
              <a:t>7 file types + arXiv in; summary, analysis, comparison, chat and report out</a:t>
            </a:r>
            <a:endParaRPr lang="en-US" sz="2000" dirty="0"/>
          </a:p>
        </p:txBody>
      </p:sp>
      <p:sp>
        <p:nvSpPr>
          <p:cNvPr id="6" name="conclusion card 2"/>
          <p:cNvSpPr/>
          <p:nvPr/>
        </p:nvSpPr>
        <p:spPr>
          <a:xfrm>
            <a:off x="3355848" y="3108960"/>
            <a:ext cx="2606040" cy="2103120"/>
          </a:xfrm>
          <a:prstGeom prst="roundRect">
            <a:avLst>
              <a:gd name="adj" fmla="val 3478"/>
            </a:avLst>
          </a:prstGeom>
          <a:solidFill>
            <a:srgbClr val="232323"/>
          </a:solidFill>
          <a:ln/>
        </p:spPr>
      </p:sp>
      <p:sp>
        <p:nvSpPr>
          <p:cNvPr id="7" name="conclusion card 2 text"/>
          <p:cNvSpPr txBox="1"/>
          <p:nvPr/>
        </p:nvSpPr>
        <p:spPr>
          <a:xfrm>
            <a:off x="3584448" y="3337560"/>
            <a:ext cx="2148840" cy="1645920"/>
          </a:xfrm>
          <a:prstGeom prst="rect">
            <a:avLst/>
          </a:prstGeom>
          <a:noFill/>
          <a:ln/>
        </p:spPr>
        <p:txBody>
          <a:bodyPr wrap="square" lIns="0" tIns="0" rIns="0" bIns="0" rtlCol="0" anchor="t"/>
          <a:lstStyle/>
          <a:p>
            <a:pPr marL="0" indent="0">
              <a:spcAft>
                <a:spcPts val="600"/>
              </a:spcAft>
              <a:buNone/>
            </a:pPr>
            <a:r>
              <a:rPr lang="en-US" sz="2000" b="1" dirty="0">
                <a:solidFill>
                  <a:srgbClr val="E0242C"/>
                </a:solidFill>
              </a:rPr>
              <a:t>Trustworthy</a:t>
            </a:r>
            <a:endParaRPr lang="en-US" sz="2000" dirty="0"/>
          </a:p>
          <a:p>
            <a:pPr marL="0" indent="0">
              <a:spcAft>
                <a:spcPts val="600"/>
              </a:spcAft>
              <a:buNone/>
            </a:pPr>
            <a:r>
              <a:rPr lang="en-US" sz="1600" dirty="0">
                <a:solidFill>
                  <a:srgbClr val="E5E5E5"/>
                </a:solidFill>
              </a:rPr>
              <a:t>every bullet cited; a Reviewer rejects unsupported numbers</a:t>
            </a:r>
            <a:endParaRPr lang="en-US" sz="2000" dirty="0"/>
          </a:p>
        </p:txBody>
      </p:sp>
      <p:sp>
        <p:nvSpPr>
          <p:cNvPr id="8" name="conclusion card 3"/>
          <p:cNvSpPr/>
          <p:nvPr/>
        </p:nvSpPr>
        <p:spPr>
          <a:xfrm>
            <a:off x="6163056" y="3108960"/>
            <a:ext cx="2606040" cy="2103120"/>
          </a:xfrm>
          <a:prstGeom prst="roundRect">
            <a:avLst>
              <a:gd name="adj" fmla="val 3478"/>
            </a:avLst>
          </a:prstGeom>
          <a:solidFill>
            <a:srgbClr val="232323"/>
          </a:solidFill>
          <a:ln/>
        </p:spPr>
      </p:sp>
      <p:sp>
        <p:nvSpPr>
          <p:cNvPr id="9" name="conclusion card 3 text"/>
          <p:cNvSpPr txBox="1"/>
          <p:nvPr/>
        </p:nvSpPr>
        <p:spPr>
          <a:xfrm>
            <a:off x="6391656" y="3337560"/>
            <a:ext cx="2148840" cy="1645920"/>
          </a:xfrm>
          <a:prstGeom prst="rect">
            <a:avLst/>
          </a:prstGeom>
          <a:noFill/>
          <a:ln/>
        </p:spPr>
        <p:txBody>
          <a:bodyPr wrap="square" lIns="0" tIns="0" rIns="0" bIns="0" rtlCol="0" anchor="t"/>
          <a:lstStyle/>
          <a:p>
            <a:pPr marL="0" indent="0">
              <a:spcAft>
                <a:spcPts val="600"/>
              </a:spcAft>
              <a:buNone/>
            </a:pPr>
            <a:r>
              <a:rPr lang="en-US" sz="2000" b="1" dirty="0">
                <a:solidFill>
                  <a:srgbClr val="E0242C"/>
                </a:solidFill>
              </a:rPr>
              <a:t>Practical</a:t>
            </a:r>
            <a:endParaRPr lang="en-US" sz="2000" dirty="0"/>
          </a:p>
          <a:p>
            <a:pPr marL="0" indent="0">
              <a:spcAft>
                <a:spcPts val="600"/>
              </a:spcAft>
              <a:buNone/>
            </a:pPr>
            <a:r>
              <a:rPr lang="en-US" sz="1600" dirty="0">
                <a:solidFill>
                  <a:srgbClr val="E5E5E5"/>
                </a:solidFill>
              </a:rPr>
              <a:t>4 model back-ends incl. offline; caching, fallbacks, clear errors</a:t>
            </a:r>
            <a:endParaRPr lang="en-US" sz="2000" dirty="0"/>
          </a:p>
        </p:txBody>
      </p:sp>
      <p:sp>
        <p:nvSpPr>
          <p:cNvPr id="10" name="conclusion card 4"/>
          <p:cNvSpPr/>
          <p:nvPr/>
        </p:nvSpPr>
        <p:spPr>
          <a:xfrm>
            <a:off x="8970264" y="3108960"/>
            <a:ext cx="2606040" cy="2103120"/>
          </a:xfrm>
          <a:prstGeom prst="roundRect">
            <a:avLst>
              <a:gd name="adj" fmla="val 3478"/>
            </a:avLst>
          </a:prstGeom>
          <a:solidFill>
            <a:srgbClr val="232323"/>
          </a:solidFill>
          <a:ln/>
        </p:spPr>
      </p:sp>
      <p:sp>
        <p:nvSpPr>
          <p:cNvPr id="11" name="conclusion card 4 text"/>
          <p:cNvSpPr txBox="1"/>
          <p:nvPr/>
        </p:nvSpPr>
        <p:spPr>
          <a:xfrm>
            <a:off x="9198864" y="3337560"/>
            <a:ext cx="2148840" cy="1645920"/>
          </a:xfrm>
          <a:prstGeom prst="rect">
            <a:avLst/>
          </a:prstGeom>
          <a:noFill/>
          <a:ln/>
        </p:spPr>
        <p:txBody>
          <a:bodyPr wrap="square" lIns="0" tIns="0" rIns="0" bIns="0" rtlCol="0" anchor="t"/>
          <a:lstStyle/>
          <a:p>
            <a:pPr marL="0" indent="0">
              <a:spcAft>
                <a:spcPts val="600"/>
              </a:spcAft>
              <a:buNone/>
            </a:pPr>
            <a:r>
              <a:rPr lang="en-US" sz="2000" b="1" dirty="0">
                <a:solidFill>
                  <a:srgbClr val="E0242C"/>
                </a:solidFill>
              </a:rPr>
              <a:t>Honest</a:t>
            </a:r>
            <a:endParaRPr lang="en-US" sz="2000" dirty="0"/>
          </a:p>
          <a:p>
            <a:pPr marL="0" indent="0">
              <a:spcAft>
                <a:spcPts val="600"/>
              </a:spcAft>
              <a:buNone/>
            </a:pPr>
            <a:r>
              <a:rPr lang="en-US" sz="1600" dirty="0">
                <a:solidFill>
                  <a:srgbClr val="E5E5E5"/>
                </a:solidFill>
              </a:rPr>
              <a:t>known gaps measured and documented, with a concrete roadmap</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6766560" cy="2011680"/>
          </a:xfrm>
          <a:prstGeom prst="rect">
            <a:avLst/>
          </a:prstGeom>
          <a:noFill/>
          <a:ln/>
        </p:spPr>
        <p:txBody>
          <a:bodyPr wrap="square" lIns="0" tIns="0" rIns="0" bIns="0" rtlCol="0" anchor="b"/>
          <a:lstStyle/>
          <a:p>
            <a:pPr marL="0" indent="0" algn="l">
              <a:buNone/>
            </a:pPr>
            <a:r>
              <a:rPr lang="en-US" sz="4400" b="1" dirty="0">
                <a:solidFill>
                  <a:schemeClr val="bg1"/>
                </a:solidFill>
              </a:rPr>
              <a:t>Questions?</a:t>
            </a:r>
            <a:endParaRPr lang="en-US" sz="4400" dirty="0"/>
          </a:p>
        </p:txBody>
      </p:sp>
      <p:sp>
        <p:nvSpPr>
          <p:cNvPr id="3" name="Text 0"/>
          <p:cNvSpPr>
            <a:spLocks noGrp="1"/>
          </p:cNvSpPr>
          <p:nvPr>
            <p:ph type="body" idx="101" hasCustomPrompt="1"/>
          </p:nvPr>
        </p:nvSpPr>
        <p:spPr>
          <a:xfrm>
            <a:off x="548640" y="3977640"/>
            <a:ext cx="6583680" cy="1463040"/>
          </a:xfrm>
          <a:prstGeom prst="rect">
            <a:avLst/>
          </a:prstGeom>
          <a:noFill/>
          <a:ln/>
        </p:spPr>
        <p:txBody>
          <a:bodyPr wrap="square" lIns="0" tIns="0" rIns="0" bIns="0" rtlCol="0" anchor="t"/>
          <a:lstStyle/>
          <a:p>
            <a:pPr marL="0" indent="0">
              <a:buNone/>
            </a:pPr>
            <a:r>
              <a:rPr lang="en-US" sz="1800" b="1" dirty="0">
                <a:solidFill>
                  <a:srgbClr val="FFFFFF"/>
                </a:solidFill>
              </a:rPr>
              <a:t>Thank you</a:t>
            </a:r>
            <a:endParaRPr lang="en-US" sz="1800" dirty="0"/>
          </a:p>
          <a:p>
            <a:pPr marL="0" indent="0">
              <a:buNone/>
            </a:pPr>
            <a:r>
              <a:rPr lang="en-US" sz="1800" dirty="0">
                <a:solidFill>
                  <a:srgbClr val="BFBFBF"/>
                </a:solidFill>
              </a:rPr>
              <a:t>Akshay Kale  ·  akshaykale3@gmail.com</a:t>
            </a:r>
            <a:endParaRPr lang="en-US" sz="1800" dirty="0"/>
          </a:p>
          <a:p>
            <a:pPr marL="0" indent="0">
              <a:buNone/>
            </a:pPr>
            <a:r>
              <a:rPr lang="en-US" sz="1800" dirty="0">
                <a:solidFill>
                  <a:srgbClr val="BFBFBF"/>
                </a:solidFill>
              </a:rPr>
              <a:t>Run it:  streamlit run app.py  →  ▶ Play with sample papers</a:t>
            </a:r>
            <a:endParaRPr lang="en-US" sz="1800" dirty="0"/>
          </a:p>
        </p:txBody>
      </p:sp>
      <p:sp>
        <p:nvSpPr>
          <p:cNvPr id="4" name="questions circle"/>
          <p:cNvSpPr/>
          <p:nvPr/>
        </p:nvSpPr>
        <p:spPr>
          <a:xfrm>
            <a:off x="8412480" y="2011680"/>
            <a:ext cx="2651760" cy="2651760"/>
          </a:xfrm>
          <a:prstGeom prst="ellipse">
            <a:avLst/>
          </a:prstGeom>
          <a:solidFill>
            <a:srgbClr val="232323"/>
          </a:solidFill>
          <a:ln/>
        </p:spPr>
      </p:sp>
      <p:pic>
        <p:nvPicPr>
          <p:cNvPr id="5" name="questions icon" descr="questions"/>
          <p:cNvPicPr>
            <a:picLocks noChangeAspect="1"/>
          </p:cNvPicPr>
          <p:nvPr/>
        </p:nvPicPr>
        <p:blipFill>
          <a:blip r:embed="rId3"/>
          <a:stretch>
            <a:fillRect/>
          </a:stretch>
        </p:blipFill>
        <p:spPr>
          <a:xfrm>
            <a:off x="9075420" y="2674620"/>
            <a:ext cx="1325880" cy="1325880"/>
          </a:xfrm>
          <a:prstGeom prst="rect">
            <a:avLst/>
          </a:prstGeom>
        </p:spPr>
      </p:pic>
    </p:spTree>
  </p:cSld>
  <p:clrMapOvr>
    <a:masterClrMapping/>
  </p:clrMapOvr>
</p:sld>
</file>

<file path=ppt/theme/theme1.xml><?xml version="1.0" encoding="utf-8"?>
<a:theme xmlns:a="http://schemas.openxmlformats.org/drawingml/2006/main" name="Research Agent">
  <a:themeElements>
    <a:clrScheme name="Research Agent">
      <a:dk1>
        <a:srgbClr val="141414"/>
      </a:dk1>
      <a:lt1>
        <a:srgbClr val="FFFFFF"/>
      </a:lt1>
      <a:dk2>
        <a:srgbClr val="1F3A5F"/>
      </a:dk2>
      <a:lt2>
        <a:srgbClr val="F4F6FA"/>
      </a:lt2>
      <a:accent1>
        <a:srgbClr val="E0242C"/>
      </a:accent1>
      <a:accent2>
        <a:srgbClr val="1F3A5F"/>
      </a:accent2>
      <a:accent3>
        <a:srgbClr val="B7791F"/>
      </a:accent3>
      <a:accent4>
        <a:srgbClr val="2E7D4F"/>
      </a:accent4>
      <a:accent5>
        <a:srgbClr val="5B6573"/>
      </a:accent5>
      <a:accent6>
        <a:srgbClr val="FDECEC"/>
      </a:accent6>
      <a:hlink>
        <a:srgbClr val="1F3A5F"/>
      </a:hlink>
      <a:folHlink>
        <a:srgbClr val="5B6573"/>
      </a:folHlink>
    </a:clrScheme>
    <a:fontScheme name="Research Ag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3343</Words>
  <Application>Microsoft Office PowerPoint</Application>
  <PresentationFormat>Widescreen</PresentationFormat>
  <Paragraphs>231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Research Agent</vt:lpstr>
      <vt:lpstr>Autonomous AI Research Agent</vt:lpstr>
      <vt:lpstr>Paper summaries from LLMs can't be trusted blindly</vt:lpstr>
      <vt:lpstr>Six objectives, each mapped to a component</vt:lpstr>
      <vt:lpstr>Technology stack</vt:lpstr>
      <vt:lpstr>System architecture</vt:lpstr>
      <vt:lpstr>Agent workflow: seven steps with a self-review loop</vt:lpstr>
      <vt:lpstr>Implementation details</vt:lpstr>
      <vt:lpstr>Demo: the running application</vt:lpstr>
      <vt:lpstr>Testing &amp; evaluation</vt:lpstr>
      <vt:lpstr>Results</vt:lpstr>
      <vt:lpstr>Challenges encountered and how I solved them</vt:lpstr>
      <vt:lpstr>Future enhancements</vt:lpstr>
      <vt:lpstr>Key learnings</vt:lpstr>
      <vt:lpstr>PowerPoint Presentation</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AI Research Agent — Final Capstone Presentation</dc:title>
  <dc:subject>AI that summarizes research papers</dc:subject>
  <dc:creator>Akshay Kale</dc:creator>
  <cp:lastModifiedBy>Akshay Kale</cp:lastModifiedBy>
  <cp:revision>3</cp:revision>
  <dcterms:created xsi:type="dcterms:W3CDTF">2026-10-30T18:07:23Z</dcterms:created>
  <dcterms:modified xsi:type="dcterms:W3CDTF">2026-10-30T18:12:06Z</dcterms:modified>
</cp:coreProperties>
</file>